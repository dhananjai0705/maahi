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76" r:id="rId9"/>
    <p:sldId id="277" r:id="rId10"/>
    <p:sldId id="263" r:id="rId11"/>
    <p:sldId id="264" r:id="rId12"/>
    <p:sldId id="279" r:id="rId13"/>
    <p:sldId id="275" r:id="rId14"/>
    <p:sldId id="271" r:id="rId15"/>
    <p:sldId id="272" r:id="rId16"/>
    <p:sldId id="273" r:id="rId17"/>
    <p:sldId id="274" r:id="rId18"/>
    <p:sldId id="265" r:id="rId19"/>
    <p:sldId id="266" r:id="rId20"/>
    <p:sldId id="267" r:id="rId21"/>
    <p:sldId id="268" r:id="rId22"/>
    <p:sldId id="269" r:id="rId23"/>
    <p:sldId id="278" r:id="rId24"/>
    <p:sldId id="27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1B55CF-8715-468E-BFE5-6F643CEA9E1A}" type="datetimeFigureOut">
              <a:rPr lang="en-IN" smtClean="0"/>
              <a:t>26-03-2026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0E037D-26DB-4C35-9F31-88009F571539}" type="slidenum">
              <a:rPr lang="en-IN" smtClean="0"/>
              <a:t>‹#›</a:t>
            </a:fld>
            <a:endParaRPr lang="en-IN"/>
          </a:p>
        </p:txBody>
      </p:sp>
    </p:spTree>
    <p:extLst>
      <p:ext uri="{BB962C8B-B14F-4D97-AF65-F5344CB8AC3E}">
        <p14:creationId xmlns:p14="http://schemas.microsoft.com/office/powerpoint/2010/main" val="4236891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C0E037D-26DB-4C35-9F31-88009F571539}" type="slidenum">
              <a:rPr lang="en-IN" smtClean="0"/>
              <a:t>8</a:t>
            </a:fld>
            <a:endParaRPr lang="en-IN"/>
          </a:p>
        </p:txBody>
      </p:sp>
    </p:spTree>
    <p:extLst>
      <p:ext uri="{BB962C8B-B14F-4D97-AF65-F5344CB8AC3E}">
        <p14:creationId xmlns:p14="http://schemas.microsoft.com/office/powerpoint/2010/main" val="25459627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C0E037D-26DB-4C35-9F31-88009F571539}" type="slidenum">
              <a:rPr lang="en-IN" smtClean="0"/>
              <a:t>15</a:t>
            </a:fld>
            <a:endParaRPr lang="en-IN"/>
          </a:p>
        </p:txBody>
      </p:sp>
    </p:spTree>
    <p:extLst>
      <p:ext uri="{BB962C8B-B14F-4D97-AF65-F5344CB8AC3E}">
        <p14:creationId xmlns:p14="http://schemas.microsoft.com/office/powerpoint/2010/main" val="22035864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C0E037D-26DB-4C35-9F31-88009F571539}" type="slidenum">
              <a:rPr lang="en-IN" smtClean="0"/>
              <a:t>22</a:t>
            </a:fld>
            <a:endParaRPr lang="en-IN"/>
          </a:p>
        </p:txBody>
      </p:sp>
    </p:spTree>
    <p:extLst>
      <p:ext uri="{BB962C8B-B14F-4D97-AF65-F5344CB8AC3E}">
        <p14:creationId xmlns:p14="http://schemas.microsoft.com/office/powerpoint/2010/main" val="22584666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C0E037D-26DB-4C35-9F31-88009F571539}" type="slidenum">
              <a:rPr lang="en-IN" smtClean="0"/>
              <a:t>23</a:t>
            </a:fld>
            <a:endParaRPr lang="en-IN"/>
          </a:p>
        </p:txBody>
      </p:sp>
    </p:spTree>
    <p:extLst>
      <p:ext uri="{BB962C8B-B14F-4D97-AF65-F5344CB8AC3E}">
        <p14:creationId xmlns:p14="http://schemas.microsoft.com/office/powerpoint/2010/main" val="35954854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1B25E-5B40-1ACF-05AA-8E30042264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1FE3E42-0788-D8CF-13E8-FA03879F0B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E353242-9828-520A-68DB-A730E222852D}"/>
              </a:ext>
            </a:extLst>
          </p:cNvPr>
          <p:cNvSpPr>
            <a:spLocks noGrp="1"/>
          </p:cNvSpPr>
          <p:nvPr>
            <p:ph type="dt" sz="half" idx="10"/>
          </p:nvPr>
        </p:nvSpPr>
        <p:spPr/>
        <p:txBody>
          <a:bodyPr/>
          <a:lstStyle/>
          <a:p>
            <a:fld id="{5F1BEA84-978C-4BB6-AE10-3559A7A8B221}" type="datetimeFigureOut">
              <a:rPr lang="en-IN" smtClean="0"/>
              <a:t>26-03-2026</a:t>
            </a:fld>
            <a:endParaRPr lang="en-IN"/>
          </a:p>
        </p:txBody>
      </p:sp>
      <p:sp>
        <p:nvSpPr>
          <p:cNvPr id="5" name="Footer Placeholder 4">
            <a:extLst>
              <a:ext uri="{FF2B5EF4-FFF2-40B4-BE49-F238E27FC236}">
                <a16:creationId xmlns:a16="http://schemas.microsoft.com/office/drawing/2014/main" id="{99B7FD44-4EC4-DA44-0F8D-2F87EF7F17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241CCE-E2FB-B08C-5D41-B7CBBA27829D}"/>
              </a:ext>
            </a:extLst>
          </p:cNvPr>
          <p:cNvSpPr>
            <a:spLocks noGrp="1"/>
          </p:cNvSpPr>
          <p:nvPr>
            <p:ph type="sldNum" sz="quarter" idx="12"/>
          </p:nvPr>
        </p:nvSpPr>
        <p:spPr/>
        <p:txBody>
          <a:bodyPr/>
          <a:lstStyle/>
          <a:p>
            <a:fld id="{C092A91F-5ED1-4C00-8993-0601B6386093}" type="slidenum">
              <a:rPr lang="en-IN" smtClean="0"/>
              <a:t>‹#›</a:t>
            </a:fld>
            <a:endParaRPr lang="en-IN"/>
          </a:p>
        </p:txBody>
      </p:sp>
    </p:spTree>
    <p:extLst>
      <p:ext uri="{BB962C8B-B14F-4D97-AF65-F5344CB8AC3E}">
        <p14:creationId xmlns:p14="http://schemas.microsoft.com/office/powerpoint/2010/main" val="3983310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01FB6-B17D-E4B6-7151-E97D60D59CC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3185295-5BBA-29A2-B009-A798BB0268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F0671A-86FC-31FF-2238-61B14C6F527F}"/>
              </a:ext>
            </a:extLst>
          </p:cNvPr>
          <p:cNvSpPr>
            <a:spLocks noGrp="1"/>
          </p:cNvSpPr>
          <p:nvPr>
            <p:ph type="dt" sz="half" idx="10"/>
          </p:nvPr>
        </p:nvSpPr>
        <p:spPr/>
        <p:txBody>
          <a:bodyPr/>
          <a:lstStyle/>
          <a:p>
            <a:fld id="{5F1BEA84-978C-4BB6-AE10-3559A7A8B221}" type="datetimeFigureOut">
              <a:rPr lang="en-IN" smtClean="0"/>
              <a:t>26-03-2026</a:t>
            </a:fld>
            <a:endParaRPr lang="en-IN"/>
          </a:p>
        </p:txBody>
      </p:sp>
      <p:sp>
        <p:nvSpPr>
          <p:cNvPr id="5" name="Footer Placeholder 4">
            <a:extLst>
              <a:ext uri="{FF2B5EF4-FFF2-40B4-BE49-F238E27FC236}">
                <a16:creationId xmlns:a16="http://schemas.microsoft.com/office/drawing/2014/main" id="{41D6849D-B7AD-27BC-99F5-4A47DEA18F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255534-3407-487A-7541-1288420E5DC6}"/>
              </a:ext>
            </a:extLst>
          </p:cNvPr>
          <p:cNvSpPr>
            <a:spLocks noGrp="1"/>
          </p:cNvSpPr>
          <p:nvPr>
            <p:ph type="sldNum" sz="quarter" idx="12"/>
          </p:nvPr>
        </p:nvSpPr>
        <p:spPr/>
        <p:txBody>
          <a:bodyPr/>
          <a:lstStyle/>
          <a:p>
            <a:fld id="{C092A91F-5ED1-4C00-8993-0601B6386093}" type="slidenum">
              <a:rPr lang="en-IN" smtClean="0"/>
              <a:t>‹#›</a:t>
            </a:fld>
            <a:endParaRPr lang="en-IN"/>
          </a:p>
        </p:txBody>
      </p:sp>
    </p:spTree>
    <p:extLst>
      <p:ext uri="{BB962C8B-B14F-4D97-AF65-F5344CB8AC3E}">
        <p14:creationId xmlns:p14="http://schemas.microsoft.com/office/powerpoint/2010/main" val="716640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5A6BB-C632-23BD-6407-75B543A498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CFC6044-2A36-2F15-601C-D857FABFEAB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BECFF1-3570-ED1E-AC4F-F70DA43BB7EE}"/>
              </a:ext>
            </a:extLst>
          </p:cNvPr>
          <p:cNvSpPr>
            <a:spLocks noGrp="1"/>
          </p:cNvSpPr>
          <p:nvPr>
            <p:ph type="dt" sz="half" idx="10"/>
          </p:nvPr>
        </p:nvSpPr>
        <p:spPr/>
        <p:txBody>
          <a:bodyPr/>
          <a:lstStyle/>
          <a:p>
            <a:fld id="{5F1BEA84-978C-4BB6-AE10-3559A7A8B221}" type="datetimeFigureOut">
              <a:rPr lang="en-IN" smtClean="0"/>
              <a:t>26-03-2026</a:t>
            </a:fld>
            <a:endParaRPr lang="en-IN"/>
          </a:p>
        </p:txBody>
      </p:sp>
      <p:sp>
        <p:nvSpPr>
          <p:cNvPr id="5" name="Footer Placeholder 4">
            <a:extLst>
              <a:ext uri="{FF2B5EF4-FFF2-40B4-BE49-F238E27FC236}">
                <a16:creationId xmlns:a16="http://schemas.microsoft.com/office/drawing/2014/main" id="{04F56417-AD2A-44ED-176A-A9419C7B2B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88D139-2BBD-DC87-4743-7A9B24737D06}"/>
              </a:ext>
            </a:extLst>
          </p:cNvPr>
          <p:cNvSpPr>
            <a:spLocks noGrp="1"/>
          </p:cNvSpPr>
          <p:nvPr>
            <p:ph type="sldNum" sz="quarter" idx="12"/>
          </p:nvPr>
        </p:nvSpPr>
        <p:spPr/>
        <p:txBody>
          <a:bodyPr/>
          <a:lstStyle/>
          <a:p>
            <a:fld id="{C092A91F-5ED1-4C00-8993-0601B6386093}" type="slidenum">
              <a:rPr lang="en-IN" smtClean="0"/>
              <a:t>‹#›</a:t>
            </a:fld>
            <a:endParaRPr lang="en-IN"/>
          </a:p>
        </p:txBody>
      </p:sp>
    </p:spTree>
    <p:extLst>
      <p:ext uri="{BB962C8B-B14F-4D97-AF65-F5344CB8AC3E}">
        <p14:creationId xmlns:p14="http://schemas.microsoft.com/office/powerpoint/2010/main" val="243616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BEAC5-52FF-3E3F-AF44-A64FCB51BAE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2A7B888-D29B-A890-2200-CEAF3C6D1A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FDFC7F0-6545-1B77-E7D4-71B94A4E2B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F8247CD-7F18-0FCB-B36F-51F2520EE8C9}"/>
              </a:ext>
            </a:extLst>
          </p:cNvPr>
          <p:cNvSpPr>
            <a:spLocks noGrp="1"/>
          </p:cNvSpPr>
          <p:nvPr>
            <p:ph type="dt" sz="half" idx="10"/>
          </p:nvPr>
        </p:nvSpPr>
        <p:spPr/>
        <p:txBody>
          <a:bodyPr/>
          <a:lstStyle/>
          <a:p>
            <a:fld id="{5F1BEA84-978C-4BB6-AE10-3559A7A8B221}" type="datetimeFigureOut">
              <a:rPr lang="en-IN" smtClean="0"/>
              <a:t>26-03-2026</a:t>
            </a:fld>
            <a:endParaRPr lang="en-IN"/>
          </a:p>
        </p:txBody>
      </p:sp>
      <p:sp>
        <p:nvSpPr>
          <p:cNvPr id="6" name="Footer Placeholder 5">
            <a:extLst>
              <a:ext uri="{FF2B5EF4-FFF2-40B4-BE49-F238E27FC236}">
                <a16:creationId xmlns:a16="http://schemas.microsoft.com/office/drawing/2014/main" id="{FB3D4CBD-82B8-B7AC-C9DB-159E3AAE7DA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0697BE-FC89-C8D1-429E-48CD1CBA19F9}"/>
              </a:ext>
            </a:extLst>
          </p:cNvPr>
          <p:cNvSpPr>
            <a:spLocks noGrp="1"/>
          </p:cNvSpPr>
          <p:nvPr>
            <p:ph type="sldNum" sz="quarter" idx="12"/>
          </p:nvPr>
        </p:nvSpPr>
        <p:spPr/>
        <p:txBody>
          <a:bodyPr/>
          <a:lstStyle/>
          <a:p>
            <a:fld id="{C092A91F-5ED1-4C00-8993-0601B6386093}" type="slidenum">
              <a:rPr lang="en-IN" smtClean="0"/>
              <a:t>‹#›</a:t>
            </a:fld>
            <a:endParaRPr lang="en-IN"/>
          </a:p>
        </p:txBody>
      </p:sp>
    </p:spTree>
    <p:extLst>
      <p:ext uri="{BB962C8B-B14F-4D97-AF65-F5344CB8AC3E}">
        <p14:creationId xmlns:p14="http://schemas.microsoft.com/office/powerpoint/2010/main" val="33807124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CCDD0-DBD8-7A04-3F2C-30D9913022D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5B4A711-14CC-0858-E5E2-D086DE9AFA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DEBFC0B-EABA-DBF2-42E5-310CE6D95D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DBCB99F-01CE-110E-DAF8-51F4B52825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591E49-C244-8A2C-75B3-76856BD7E8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F2A1D8-2DDA-5DF9-ADD8-62F13162ED09}"/>
              </a:ext>
            </a:extLst>
          </p:cNvPr>
          <p:cNvSpPr>
            <a:spLocks noGrp="1"/>
          </p:cNvSpPr>
          <p:nvPr>
            <p:ph type="dt" sz="half" idx="10"/>
          </p:nvPr>
        </p:nvSpPr>
        <p:spPr/>
        <p:txBody>
          <a:bodyPr/>
          <a:lstStyle/>
          <a:p>
            <a:fld id="{5F1BEA84-978C-4BB6-AE10-3559A7A8B221}" type="datetimeFigureOut">
              <a:rPr lang="en-IN" smtClean="0"/>
              <a:t>26-03-2026</a:t>
            </a:fld>
            <a:endParaRPr lang="en-IN"/>
          </a:p>
        </p:txBody>
      </p:sp>
      <p:sp>
        <p:nvSpPr>
          <p:cNvPr id="8" name="Footer Placeholder 7">
            <a:extLst>
              <a:ext uri="{FF2B5EF4-FFF2-40B4-BE49-F238E27FC236}">
                <a16:creationId xmlns:a16="http://schemas.microsoft.com/office/drawing/2014/main" id="{155173F1-7634-DDA2-30DF-A0DE107C04A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663DE94-E256-0B2D-040F-80C2743498E0}"/>
              </a:ext>
            </a:extLst>
          </p:cNvPr>
          <p:cNvSpPr>
            <a:spLocks noGrp="1"/>
          </p:cNvSpPr>
          <p:nvPr>
            <p:ph type="sldNum" sz="quarter" idx="12"/>
          </p:nvPr>
        </p:nvSpPr>
        <p:spPr/>
        <p:txBody>
          <a:bodyPr/>
          <a:lstStyle/>
          <a:p>
            <a:fld id="{C092A91F-5ED1-4C00-8993-0601B6386093}" type="slidenum">
              <a:rPr lang="en-IN" smtClean="0"/>
              <a:t>‹#›</a:t>
            </a:fld>
            <a:endParaRPr lang="en-IN"/>
          </a:p>
        </p:txBody>
      </p:sp>
    </p:spTree>
    <p:extLst>
      <p:ext uri="{BB962C8B-B14F-4D97-AF65-F5344CB8AC3E}">
        <p14:creationId xmlns:p14="http://schemas.microsoft.com/office/powerpoint/2010/main" val="2346519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B3B82-A9E4-C5A7-01E9-039D3A7A2BA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0F94240-8BAA-07BA-D90B-2640ADFAE18A}"/>
              </a:ext>
            </a:extLst>
          </p:cNvPr>
          <p:cNvSpPr>
            <a:spLocks noGrp="1"/>
          </p:cNvSpPr>
          <p:nvPr>
            <p:ph type="dt" sz="half" idx="10"/>
          </p:nvPr>
        </p:nvSpPr>
        <p:spPr/>
        <p:txBody>
          <a:bodyPr/>
          <a:lstStyle/>
          <a:p>
            <a:fld id="{5F1BEA84-978C-4BB6-AE10-3559A7A8B221}" type="datetimeFigureOut">
              <a:rPr lang="en-IN" smtClean="0"/>
              <a:t>26-03-2026</a:t>
            </a:fld>
            <a:endParaRPr lang="en-IN"/>
          </a:p>
        </p:txBody>
      </p:sp>
      <p:sp>
        <p:nvSpPr>
          <p:cNvPr id="4" name="Footer Placeholder 3">
            <a:extLst>
              <a:ext uri="{FF2B5EF4-FFF2-40B4-BE49-F238E27FC236}">
                <a16:creationId xmlns:a16="http://schemas.microsoft.com/office/drawing/2014/main" id="{1716123C-EAC3-5C79-17D3-7C8915DE865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B2E9349-ED7C-4191-CD7D-A07E453F9600}"/>
              </a:ext>
            </a:extLst>
          </p:cNvPr>
          <p:cNvSpPr>
            <a:spLocks noGrp="1"/>
          </p:cNvSpPr>
          <p:nvPr>
            <p:ph type="sldNum" sz="quarter" idx="12"/>
          </p:nvPr>
        </p:nvSpPr>
        <p:spPr/>
        <p:txBody>
          <a:bodyPr/>
          <a:lstStyle/>
          <a:p>
            <a:fld id="{C092A91F-5ED1-4C00-8993-0601B6386093}" type="slidenum">
              <a:rPr lang="en-IN" smtClean="0"/>
              <a:t>‹#›</a:t>
            </a:fld>
            <a:endParaRPr lang="en-IN"/>
          </a:p>
        </p:txBody>
      </p:sp>
    </p:spTree>
    <p:extLst>
      <p:ext uri="{BB962C8B-B14F-4D97-AF65-F5344CB8AC3E}">
        <p14:creationId xmlns:p14="http://schemas.microsoft.com/office/powerpoint/2010/main" val="1425381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F2F9F9-6922-C813-DA7B-9E520E5C8384}"/>
              </a:ext>
            </a:extLst>
          </p:cNvPr>
          <p:cNvSpPr>
            <a:spLocks noGrp="1"/>
          </p:cNvSpPr>
          <p:nvPr>
            <p:ph type="dt" sz="half" idx="10"/>
          </p:nvPr>
        </p:nvSpPr>
        <p:spPr/>
        <p:txBody>
          <a:bodyPr/>
          <a:lstStyle/>
          <a:p>
            <a:fld id="{5F1BEA84-978C-4BB6-AE10-3559A7A8B221}" type="datetimeFigureOut">
              <a:rPr lang="en-IN" smtClean="0"/>
              <a:t>26-03-2026</a:t>
            </a:fld>
            <a:endParaRPr lang="en-IN"/>
          </a:p>
        </p:txBody>
      </p:sp>
      <p:sp>
        <p:nvSpPr>
          <p:cNvPr id="3" name="Footer Placeholder 2">
            <a:extLst>
              <a:ext uri="{FF2B5EF4-FFF2-40B4-BE49-F238E27FC236}">
                <a16:creationId xmlns:a16="http://schemas.microsoft.com/office/drawing/2014/main" id="{4C67B7AE-AEE2-8FF1-C1B6-5C326254285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7687196-8E58-43CF-50C5-36B1B13B8E80}"/>
              </a:ext>
            </a:extLst>
          </p:cNvPr>
          <p:cNvSpPr>
            <a:spLocks noGrp="1"/>
          </p:cNvSpPr>
          <p:nvPr>
            <p:ph type="sldNum" sz="quarter" idx="12"/>
          </p:nvPr>
        </p:nvSpPr>
        <p:spPr/>
        <p:txBody>
          <a:bodyPr/>
          <a:lstStyle/>
          <a:p>
            <a:fld id="{C092A91F-5ED1-4C00-8993-0601B6386093}" type="slidenum">
              <a:rPr lang="en-IN" smtClean="0"/>
              <a:t>‹#›</a:t>
            </a:fld>
            <a:endParaRPr lang="en-IN"/>
          </a:p>
        </p:txBody>
      </p:sp>
    </p:spTree>
    <p:extLst>
      <p:ext uri="{BB962C8B-B14F-4D97-AF65-F5344CB8AC3E}">
        <p14:creationId xmlns:p14="http://schemas.microsoft.com/office/powerpoint/2010/main" val="838553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446BA-8B2C-A8EC-8055-0A1EE46866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80E10E9-B20A-06A1-7EB2-52F1284427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BCE9CF1-84FA-D385-7487-A30B6375D0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6310C8-4CA5-582A-5318-B462337CD6F7}"/>
              </a:ext>
            </a:extLst>
          </p:cNvPr>
          <p:cNvSpPr>
            <a:spLocks noGrp="1"/>
          </p:cNvSpPr>
          <p:nvPr>
            <p:ph type="dt" sz="half" idx="10"/>
          </p:nvPr>
        </p:nvSpPr>
        <p:spPr/>
        <p:txBody>
          <a:bodyPr/>
          <a:lstStyle/>
          <a:p>
            <a:fld id="{5F1BEA84-978C-4BB6-AE10-3559A7A8B221}" type="datetimeFigureOut">
              <a:rPr lang="en-IN" smtClean="0"/>
              <a:t>26-03-2026</a:t>
            </a:fld>
            <a:endParaRPr lang="en-IN"/>
          </a:p>
        </p:txBody>
      </p:sp>
      <p:sp>
        <p:nvSpPr>
          <p:cNvPr id="6" name="Footer Placeholder 5">
            <a:extLst>
              <a:ext uri="{FF2B5EF4-FFF2-40B4-BE49-F238E27FC236}">
                <a16:creationId xmlns:a16="http://schemas.microsoft.com/office/drawing/2014/main" id="{5AF2995D-FD53-31A6-573B-891F7E764A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E1973D2-8DA4-A1EB-D1CE-95E1E4FBBB51}"/>
              </a:ext>
            </a:extLst>
          </p:cNvPr>
          <p:cNvSpPr>
            <a:spLocks noGrp="1"/>
          </p:cNvSpPr>
          <p:nvPr>
            <p:ph type="sldNum" sz="quarter" idx="12"/>
          </p:nvPr>
        </p:nvSpPr>
        <p:spPr/>
        <p:txBody>
          <a:bodyPr/>
          <a:lstStyle/>
          <a:p>
            <a:fld id="{C092A91F-5ED1-4C00-8993-0601B6386093}" type="slidenum">
              <a:rPr lang="en-IN" smtClean="0"/>
              <a:t>‹#›</a:t>
            </a:fld>
            <a:endParaRPr lang="en-IN"/>
          </a:p>
        </p:txBody>
      </p:sp>
    </p:spTree>
    <p:extLst>
      <p:ext uri="{BB962C8B-B14F-4D97-AF65-F5344CB8AC3E}">
        <p14:creationId xmlns:p14="http://schemas.microsoft.com/office/powerpoint/2010/main" val="3118012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6FBC6-5BAC-D2C7-19C2-2626FB083D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C3403A7-8DFA-7DBF-0094-8CD7491BAF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38AAE1E-5DB2-6BAF-D6C2-A65713D26A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8384B5-988E-FD90-5DC3-4E8501E04BF2}"/>
              </a:ext>
            </a:extLst>
          </p:cNvPr>
          <p:cNvSpPr>
            <a:spLocks noGrp="1"/>
          </p:cNvSpPr>
          <p:nvPr>
            <p:ph type="dt" sz="half" idx="10"/>
          </p:nvPr>
        </p:nvSpPr>
        <p:spPr/>
        <p:txBody>
          <a:bodyPr/>
          <a:lstStyle/>
          <a:p>
            <a:fld id="{5F1BEA84-978C-4BB6-AE10-3559A7A8B221}" type="datetimeFigureOut">
              <a:rPr lang="en-IN" smtClean="0"/>
              <a:t>26-03-2026</a:t>
            </a:fld>
            <a:endParaRPr lang="en-IN"/>
          </a:p>
        </p:txBody>
      </p:sp>
      <p:sp>
        <p:nvSpPr>
          <p:cNvPr id="6" name="Footer Placeholder 5">
            <a:extLst>
              <a:ext uri="{FF2B5EF4-FFF2-40B4-BE49-F238E27FC236}">
                <a16:creationId xmlns:a16="http://schemas.microsoft.com/office/drawing/2014/main" id="{73267BCF-E307-3314-23F2-086E5378926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216E6FB-ADC2-F646-5A8A-42E0DDBC123F}"/>
              </a:ext>
            </a:extLst>
          </p:cNvPr>
          <p:cNvSpPr>
            <a:spLocks noGrp="1"/>
          </p:cNvSpPr>
          <p:nvPr>
            <p:ph type="sldNum" sz="quarter" idx="12"/>
          </p:nvPr>
        </p:nvSpPr>
        <p:spPr/>
        <p:txBody>
          <a:bodyPr/>
          <a:lstStyle/>
          <a:p>
            <a:fld id="{C092A91F-5ED1-4C00-8993-0601B6386093}" type="slidenum">
              <a:rPr lang="en-IN" smtClean="0"/>
              <a:t>‹#›</a:t>
            </a:fld>
            <a:endParaRPr lang="en-IN"/>
          </a:p>
        </p:txBody>
      </p:sp>
    </p:spTree>
    <p:extLst>
      <p:ext uri="{BB962C8B-B14F-4D97-AF65-F5344CB8AC3E}">
        <p14:creationId xmlns:p14="http://schemas.microsoft.com/office/powerpoint/2010/main" val="1915753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F27FF-FC6C-B54F-AA89-AA5AD24B600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99B8C35-1F59-14EE-63DB-FC9CA3A35E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A01D90-1FA2-D1A3-AF0B-0831AA005403}"/>
              </a:ext>
            </a:extLst>
          </p:cNvPr>
          <p:cNvSpPr>
            <a:spLocks noGrp="1"/>
          </p:cNvSpPr>
          <p:nvPr>
            <p:ph type="dt" sz="half" idx="10"/>
          </p:nvPr>
        </p:nvSpPr>
        <p:spPr/>
        <p:txBody>
          <a:bodyPr/>
          <a:lstStyle/>
          <a:p>
            <a:fld id="{5F1BEA84-978C-4BB6-AE10-3559A7A8B221}" type="datetimeFigureOut">
              <a:rPr lang="en-IN" smtClean="0"/>
              <a:t>26-03-2026</a:t>
            </a:fld>
            <a:endParaRPr lang="en-IN"/>
          </a:p>
        </p:txBody>
      </p:sp>
      <p:sp>
        <p:nvSpPr>
          <p:cNvPr id="5" name="Footer Placeholder 4">
            <a:extLst>
              <a:ext uri="{FF2B5EF4-FFF2-40B4-BE49-F238E27FC236}">
                <a16:creationId xmlns:a16="http://schemas.microsoft.com/office/drawing/2014/main" id="{F40C76BC-F171-5125-A6E9-33205862B3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C38E58-FCAD-F798-1874-38C950C14784}"/>
              </a:ext>
            </a:extLst>
          </p:cNvPr>
          <p:cNvSpPr>
            <a:spLocks noGrp="1"/>
          </p:cNvSpPr>
          <p:nvPr>
            <p:ph type="sldNum" sz="quarter" idx="12"/>
          </p:nvPr>
        </p:nvSpPr>
        <p:spPr/>
        <p:txBody>
          <a:bodyPr/>
          <a:lstStyle/>
          <a:p>
            <a:fld id="{C092A91F-5ED1-4C00-8993-0601B6386093}" type="slidenum">
              <a:rPr lang="en-IN" smtClean="0"/>
              <a:t>‹#›</a:t>
            </a:fld>
            <a:endParaRPr lang="en-IN"/>
          </a:p>
        </p:txBody>
      </p:sp>
    </p:spTree>
    <p:extLst>
      <p:ext uri="{BB962C8B-B14F-4D97-AF65-F5344CB8AC3E}">
        <p14:creationId xmlns:p14="http://schemas.microsoft.com/office/powerpoint/2010/main" val="37341659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DA3431-6497-820F-18AB-96F7DC75867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2A105E-8C37-2A6C-0576-686B3A5FCC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26261E-A55B-1192-68EB-D2D45998A721}"/>
              </a:ext>
            </a:extLst>
          </p:cNvPr>
          <p:cNvSpPr>
            <a:spLocks noGrp="1"/>
          </p:cNvSpPr>
          <p:nvPr>
            <p:ph type="dt" sz="half" idx="10"/>
          </p:nvPr>
        </p:nvSpPr>
        <p:spPr/>
        <p:txBody>
          <a:bodyPr/>
          <a:lstStyle/>
          <a:p>
            <a:fld id="{5F1BEA84-978C-4BB6-AE10-3559A7A8B221}" type="datetimeFigureOut">
              <a:rPr lang="en-IN" smtClean="0"/>
              <a:t>26-03-2026</a:t>
            </a:fld>
            <a:endParaRPr lang="en-IN"/>
          </a:p>
        </p:txBody>
      </p:sp>
      <p:sp>
        <p:nvSpPr>
          <p:cNvPr id="5" name="Footer Placeholder 4">
            <a:extLst>
              <a:ext uri="{FF2B5EF4-FFF2-40B4-BE49-F238E27FC236}">
                <a16:creationId xmlns:a16="http://schemas.microsoft.com/office/drawing/2014/main" id="{A085E413-3CE0-6023-0549-59ADF62CA1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54FA07-E4A3-6714-A7D2-233B952FC0EA}"/>
              </a:ext>
            </a:extLst>
          </p:cNvPr>
          <p:cNvSpPr>
            <a:spLocks noGrp="1"/>
          </p:cNvSpPr>
          <p:nvPr>
            <p:ph type="sldNum" sz="quarter" idx="12"/>
          </p:nvPr>
        </p:nvSpPr>
        <p:spPr/>
        <p:txBody>
          <a:bodyPr/>
          <a:lstStyle/>
          <a:p>
            <a:fld id="{C092A91F-5ED1-4C00-8993-0601B6386093}" type="slidenum">
              <a:rPr lang="en-IN" smtClean="0"/>
              <a:t>‹#›</a:t>
            </a:fld>
            <a:endParaRPr lang="en-IN"/>
          </a:p>
        </p:txBody>
      </p:sp>
    </p:spTree>
    <p:extLst>
      <p:ext uri="{BB962C8B-B14F-4D97-AF65-F5344CB8AC3E}">
        <p14:creationId xmlns:p14="http://schemas.microsoft.com/office/powerpoint/2010/main" val="940410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C6F660-02D8-9E95-AD9E-48F94701F5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84DAA4B-B6A9-DDE3-D69B-C66018B091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6FC190-8F4C-E4EB-4EEC-550EAF30E7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1BEA84-978C-4BB6-AE10-3559A7A8B221}" type="datetimeFigureOut">
              <a:rPr lang="en-IN" smtClean="0"/>
              <a:t>26-03-2026</a:t>
            </a:fld>
            <a:endParaRPr lang="en-IN"/>
          </a:p>
        </p:txBody>
      </p:sp>
      <p:sp>
        <p:nvSpPr>
          <p:cNvPr id="5" name="Footer Placeholder 4">
            <a:extLst>
              <a:ext uri="{FF2B5EF4-FFF2-40B4-BE49-F238E27FC236}">
                <a16:creationId xmlns:a16="http://schemas.microsoft.com/office/drawing/2014/main" id="{0F5268EE-BF1A-E698-2F9D-DEC97302A9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26F7340-EAF0-1A79-5D67-FD7B52D6A9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92A91F-5ED1-4C00-8993-0601B6386093}" type="slidenum">
              <a:rPr lang="en-IN" smtClean="0"/>
              <a:t>‹#›</a:t>
            </a:fld>
            <a:endParaRPr lang="en-IN"/>
          </a:p>
        </p:txBody>
      </p:sp>
    </p:spTree>
    <p:extLst>
      <p:ext uri="{BB962C8B-B14F-4D97-AF65-F5344CB8AC3E}">
        <p14:creationId xmlns:p14="http://schemas.microsoft.com/office/powerpoint/2010/main" val="33417835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39CED12-0A55-E58E-B63D-547A34559C1D}"/>
              </a:ext>
            </a:extLst>
          </p:cNvPr>
          <p:cNvSpPr txBox="1"/>
          <p:nvPr/>
        </p:nvSpPr>
        <p:spPr>
          <a:xfrm>
            <a:off x="137652" y="117693"/>
            <a:ext cx="11779046" cy="6740307"/>
          </a:xfrm>
          <a:prstGeom prst="rect">
            <a:avLst/>
          </a:prstGeom>
          <a:noFill/>
        </p:spPr>
        <p:txBody>
          <a:bodyPr wrap="square">
            <a:spAutoFit/>
          </a:bodyPr>
          <a:lstStyle/>
          <a:p>
            <a:pPr marL="0" indent="0" algn="ctr">
              <a:buNone/>
            </a:pPr>
            <a:r>
              <a:rPr lang="en-IN" sz="1800" dirty="0">
                <a:latin typeface="Times New Roman" panose="02020603050405020304" pitchFamily="18" charset="0"/>
                <a:cs typeface="Times New Roman" panose="02020603050405020304" pitchFamily="18" charset="0"/>
              </a:rPr>
              <a:t>A SEMINAR </a:t>
            </a:r>
          </a:p>
          <a:p>
            <a:pPr marL="0" indent="0" algn="ctr">
              <a:buNone/>
            </a:pPr>
            <a:r>
              <a:rPr lang="en-IN" sz="1800" dirty="0">
                <a:latin typeface="Times New Roman" panose="02020603050405020304" pitchFamily="18" charset="0"/>
                <a:cs typeface="Times New Roman" panose="02020603050405020304" pitchFamily="18" charset="0"/>
              </a:rPr>
              <a:t>ON</a:t>
            </a:r>
          </a:p>
          <a:p>
            <a:pPr marL="0" indent="0" algn="ctr">
              <a:buNone/>
            </a:pPr>
            <a:r>
              <a:rPr lang="en-IN" sz="2000" b="1" dirty="0">
                <a:latin typeface="Times New Roman" panose="02020603050405020304" pitchFamily="18" charset="0"/>
                <a:cs typeface="Times New Roman" panose="02020603050405020304" pitchFamily="18" charset="0"/>
              </a:rPr>
              <a:t>Major project stage - II</a:t>
            </a:r>
          </a:p>
          <a:p>
            <a:pPr marL="0" indent="0" algn="ctr">
              <a:lnSpc>
                <a:spcPct val="150000"/>
              </a:lnSpc>
              <a:buNone/>
            </a:pPr>
            <a:r>
              <a:rPr lang="en-IN" sz="1800" b="1" dirty="0">
                <a:latin typeface="Times New Roman" panose="02020603050405020304" pitchFamily="18" charset="0"/>
                <a:cs typeface="Times New Roman" panose="02020603050405020304" pitchFamily="18" charset="0"/>
              </a:rPr>
              <a:t>SMART AUTONOMOUS ROBOT USING </a:t>
            </a:r>
            <a:r>
              <a:rPr lang="en-IN" b="1" dirty="0">
                <a:latin typeface="Times New Roman" panose="02020603050405020304" pitchFamily="18" charset="0"/>
                <a:cs typeface="Times New Roman" panose="02020603050405020304" pitchFamily="18" charset="0"/>
              </a:rPr>
              <a:t>GROQ AI</a:t>
            </a:r>
            <a:endParaRPr lang="en-IN" sz="1800" b="1" dirty="0">
              <a:latin typeface="Times New Roman" panose="02020603050405020304" pitchFamily="18" charset="0"/>
              <a:cs typeface="Times New Roman" panose="02020603050405020304" pitchFamily="18" charset="0"/>
            </a:endParaRPr>
          </a:p>
          <a:p>
            <a:pPr marL="0" indent="0" algn="ctr">
              <a:lnSpc>
                <a:spcPct val="150000"/>
              </a:lnSpc>
              <a:buNone/>
            </a:pPr>
            <a:r>
              <a:rPr lang="en-IN" sz="1800" dirty="0">
                <a:latin typeface="Times New Roman" panose="02020603050405020304" pitchFamily="18" charset="0"/>
                <a:cs typeface="Times New Roman" panose="02020603050405020304" pitchFamily="18" charset="0"/>
              </a:rPr>
              <a:t>BACHELOR OF TECHNOLOGY </a:t>
            </a:r>
          </a:p>
          <a:p>
            <a:pPr marL="0" indent="0" algn="ctr">
              <a:buNone/>
            </a:pPr>
            <a:r>
              <a:rPr lang="en-IN" sz="1800" dirty="0">
                <a:latin typeface="Times New Roman" panose="02020603050405020304" pitchFamily="18" charset="0"/>
                <a:cs typeface="Times New Roman" panose="02020603050405020304" pitchFamily="18" charset="0"/>
              </a:rPr>
              <a:t>IN</a:t>
            </a:r>
          </a:p>
          <a:p>
            <a:pPr marL="0" indent="0" algn="ctr">
              <a:lnSpc>
                <a:spcPct val="150000"/>
              </a:lnSpc>
              <a:buNone/>
            </a:pPr>
            <a:r>
              <a:rPr lang="en-IN" sz="1800" b="1" dirty="0">
                <a:latin typeface="Times New Roman" panose="02020603050405020304" pitchFamily="18" charset="0"/>
                <a:cs typeface="Times New Roman" panose="02020603050405020304" pitchFamily="18" charset="0"/>
              </a:rPr>
              <a:t>ELECTRONICS &amp; COMMUNICATION ENGINEERING </a:t>
            </a:r>
          </a:p>
          <a:p>
            <a:pPr marL="0" indent="0" algn="ctr">
              <a:lnSpc>
                <a:spcPct val="150000"/>
              </a:lnSpc>
              <a:buNone/>
            </a:pPr>
            <a:r>
              <a:rPr lang="en-IN" sz="1800" dirty="0">
                <a:latin typeface="Times New Roman" panose="02020603050405020304" pitchFamily="18" charset="0"/>
                <a:cs typeface="Times New Roman" panose="02020603050405020304" pitchFamily="18" charset="0"/>
              </a:rPr>
              <a:t>Under the esteemed guidance of</a:t>
            </a:r>
          </a:p>
          <a:p>
            <a:pPr marL="0" indent="0" algn="ctr">
              <a:lnSpc>
                <a:spcPct val="150000"/>
              </a:lnSpc>
              <a:buNone/>
            </a:pPr>
            <a:r>
              <a:rPr lang="en-IN" sz="1800" b="1" dirty="0">
                <a:latin typeface="Times New Roman" panose="02020603050405020304" pitchFamily="18" charset="0"/>
                <a:cs typeface="Times New Roman" panose="02020603050405020304" pitchFamily="18" charset="0"/>
              </a:rPr>
              <a:t>SHRI DR.M.SRINIVASA RAO </a:t>
            </a:r>
            <a:r>
              <a:rPr lang="en-IN" sz="1600" dirty="0" err="1">
                <a:latin typeface="Times New Roman" panose="02020603050405020304" pitchFamily="18" charset="0"/>
                <a:cs typeface="Times New Roman" panose="02020603050405020304" pitchFamily="18" charset="0"/>
              </a:rPr>
              <a:t>B.E,M.Tech,Ph.D</a:t>
            </a:r>
            <a:endParaRPr lang="en-IN" sz="1600" dirty="0">
              <a:latin typeface="Times New Roman" panose="02020603050405020304" pitchFamily="18" charset="0"/>
              <a:cs typeface="Times New Roman" panose="02020603050405020304" pitchFamily="18" charset="0"/>
            </a:endParaRPr>
          </a:p>
          <a:p>
            <a:pPr marL="0" indent="0" algn="ctr">
              <a:lnSpc>
                <a:spcPct val="150000"/>
              </a:lnSpc>
              <a:buNone/>
            </a:pPr>
            <a:r>
              <a:rPr lang="en-IN" sz="1800" dirty="0">
                <a:latin typeface="Times New Roman" panose="02020603050405020304" pitchFamily="18" charset="0"/>
                <a:cs typeface="Times New Roman" panose="02020603050405020304" pitchFamily="18" charset="0"/>
              </a:rPr>
              <a:t>Associate Professor </a:t>
            </a:r>
          </a:p>
          <a:p>
            <a:pPr marL="0" indent="0" algn="ctr">
              <a:buNone/>
            </a:pPr>
            <a:r>
              <a:rPr lang="en-IN" sz="1800" dirty="0">
                <a:latin typeface="Times New Roman" panose="02020603050405020304" pitchFamily="18" charset="0"/>
                <a:cs typeface="Times New Roman" panose="02020603050405020304" pitchFamily="18" charset="0"/>
              </a:rPr>
              <a:t>Presented by</a:t>
            </a:r>
          </a:p>
          <a:p>
            <a:pPr marL="0" indent="0" algn="ctr">
              <a:lnSpc>
                <a:spcPct val="150000"/>
              </a:lnSpc>
              <a:buNone/>
            </a:pPr>
            <a:r>
              <a:rPr lang="en-IN" sz="1800" b="1" dirty="0">
                <a:latin typeface="Times New Roman" panose="02020603050405020304" pitchFamily="18" charset="0"/>
                <a:cs typeface="Times New Roman" panose="02020603050405020304" pitchFamily="18" charset="0"/>
              </a:rPr>
              <a:t>B.SAIKIRAN    (22J21A0403)</a:t>
            </a:r>
          </a:p>
          <a:p>
            <a:pPr marL="0" indent="0" algn="ctr">
              <a:lnSpc>
                <a:spcPct val="150000"/>
              </a:lnSpc>
              <a:buNone/>
            </a:pPr>
            <a:r>
              <a:rPr lang="en-IN" sz="1800" b="1" dirty="0">
                <a:latin typeface="Times New Roman" panose="02020603050405020304" pitchFamily="18" charset="0"/>
                <a:cs typeface="Times New Roman" panose="02020603050405020304" pitchFamily="18" charset="0"/>
              </a:rPr>
              <a:t>M.MEGHANA (22J21A0418)</a:t>
            </a:r>
          </a:p>
          <a:p>
            <a:pPr marL="0" indent="0" algn="ctr">
              <a:lnSpc>
                <a:spcPct val="150000"/>
              </a:lnSpc>
              <a:buNone/>
            </a:pPr>
            <a:r>
              <a:rPr lang="en-IN" sz="1800" b="1" dirty="0">
                <a:latin typeface="Times New Roman" panose="02020603050405020304" pitchFamily="18" charset="0"/>
                <a:cs typeface="Times New Roman" panose="02020603050405020304" pitchFamily="18" charset="0"/>
              </a:rPr>
              <a:t>M.NIKHIL         (23J25A0418)</a:t>
            </a:r>
          </a:p>
          <a:p>
            <a:pPr marL="0" indent="0" algn="ctr">
              <a:lnSpc>
                <a:spcPct val="150000"/>
              </a:lnSpc>
              <a:buNone/>
            </a:pPr>
            <a:r>
              <a:rPr lang="en-IN" sz="1800" b="1" dirty="0">
                <a:latin typeface="Times New Roman" panose="02020603050405020304" pitchFamily="18" charset="0"/>
                <a:cs typeface="Times New Roman" panose="02020603050405020304" pitchFamily="18" charset="0"/>
              </a:rPr>
              <a:t>B.TARUN          (22J21A0404)</a:t>
            </a:r>
          </a:p>
          <a:p>
            <a:pPr marL="0" indent="0" algn="ctr">
              <a:buNone/>
            </a:pPr>
            <a:endParaRPr lang="en-IN" sz="1800" b="1" dirty="0">
              <a:latin typeface="Times New Roman" panose="02020603050405020304" pitchFamily="18" charset="0"/>
              <a:cs typeface="Times New Roman" panose="02020603050405020304" pitchFamily="18" charset="0"/>
            </a:endParaRPr>
          </a:p>
          <a:p>
            <a:pPr marL="0" indent="0" algn="ctr">
              <a:buNone/>
            </a:pPr>
            <a:endParaRPr lang="en-IN" sz="1800" b="1" dirty="0">
              <a:latin typeface="Times New Roman" panose="02020603050405020304" pitchFamily="18" charset="0"/>
              <a:cs typeface="Times New Roman" panose="02020603050405020304" pitchFamily="18" charset="0"/>
            </a:endParaRPr>
          </a:p>
          <a:p>
            <a:pPr marL="0" indent="0" algn="ctr">
              <a:buNone/>
            </a:pPr>
            <a:endParaRPr lang="en-IN" sz="1800" b="1" dirty="0">
              <a:latin typeface="Times New Roman" panose="02020603050405020304" pitchFamily="18" charset="0"/>
              <a:cs typeface="Times New Roman" panose="02020603050405020304" pitchFamily="18" charset="0"/>
            </a:endParaRPr>
          </a:p>
          <a:p>
            <a:pPr marL="0" indent="0" algn="ctr">
              <a:buNone/>
            </a:pPr>
            <a:r>
              <a:rPr lang="en-IN" sz="1800" b="1" dirty="0">
                <a:latin typeface="Times New Roman" panose="02020603050405020304" pitchFamily="18" charset="0"/>
                <a:cs typeface="Times New Roman" panose="02020603050405020304" pitchFamily="18" charset="0"/>
              </a:rPr>
              <a:t>2025-26</a:t>
            </a:r>
          </a:p>
        </p:txBody>
      </p:sp>
      <p:pic>
        <p:nvPicPr>
          <p:cNvPr id="6" name="Picture 5">
            <a:extLst>
              <a:ext uri="{FF2B5EF4-FFF2-40B4-BE49-F238E27FC236}">
                <a16:creationId xmlns:a16="http://schemas.microsoft.com/office/drawing/2014/main" id="{CA38484E-F10F-E4F6-475A-A27E9AFD63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6349" y="5670722"/>
            <a:ext cx="1481652" cy="779239"/>
          </a:xfrm>
          <a:prstGeom prst="rect">
            <a:avLst/>
          </a:prstGeom>
        </p:spPr>
      </p:pic>
    </p:spTree>
    <p:extLst>
      <p:ext uri="{BB962C8B-B14F-4D97-AF65-F5344CB8AC3E}">
        <p14:creationId xmlns:p14="http://schemas.microsoft.com/office/powerpoint/2010/main" val="26608327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373C8-5315-06C4-8587-4CD5E4E4B220}"/>
              </a:ext>
            </a:extLst>
          </p:cNvPr>
          <p:cNvSpPr>
            <a:spLocks noGrp="1"/>
          </p:cNvSpPr>
          <p:nvPr>
            <p:ph type="title"/>
          </p:nvPr>
        </p:nvSpPr>
        <p:spPr/>
        <p:txBody>
          <a:bodyPr/>
          <a:lstStyle/>
          <a:p>
            <a:r>
              <a:rPr lang="en-IN" dirty="0">
                <a:solidFill>
                  <a:schemeClr val="accent1">
                    <a:lumMod val="75000"/>
                  </a:schemeClr>
                </a:solidFill>
              </a:rPr>
              <a:t>AGENDA:</a:t>
            </a:r>
          </a:p>
        </p:txBody>
      </p:sp>
      <p:sp>
        <p:nvSpPr>
          <p:cNvPr id="3" name="Content Placeholder 2">
            <a:extLst>
              <a:ext uri="{FF2B5EF4-FFF2-40B4-BE49-F238E27FC236}">
                <a16:creationId xmlns:a16="http://schemas.microsoft.com/office/drawing/2014/main" id="{F3EE2852-9033-67FC-8C79-37FAF2C36FF0}"/>
              </a:ext>
            </a:extLst>
          </p:cNvPr>
          <p:cNvSpPr>
            <a:spLocks noGrp="1"/>
          </p:cNvSpPr>
          <p:nvPr>
            <p:ph idx="1"/>
          </p:nvPr>
        </p:nvSpPr>
        <p:spPr/>
        <p:txBody>
          <a:bodyPr>
            <a:normAutofit fontScale="77500" lnSpcReduction="20000"/>
          </a:bodyPr>
          <a:lstStyle/>
          <a:p>
            <a:r>
              <a:rPr lang="en-IN" dirty="0"/>
              <a:t>Introduction </a:t>
            </a:r>
          </a:p>
          <a:p>
            <a:r>
              <a:rPr lang="en-IN" dirty="0"/>
              <a:t>Block Diagram</a:t>
            </a:r>
          </a:p>
          <a:p>
            <a:r>
              <a:rPr lang="en-IN" dirty="0"/>
              <a:t>Individual Block Diagram</a:t>
            </a:r>
          </a:p>
          <a:p>
            <a:r>
              <a:rPr lang="en-IN" dirty="0"/>
              <a:t>Circuit Diagram</a:t>
            </a:r>
          </a:p>
          <a:p>
            <a:r>
              <a:rPr lang="en-IN" dirty="0"/>
              <a:t>Software Requirements</a:t>
            </a:r>
          </a:p>
          <a:p>
            <a:r>
              <a:rPr lang="en-IN" dirty="0"/>
              <a:t>Flow Chart</a:t>
            </a:r>
          </a:p>
          <a:p>
            <a:r>
              <a:rPr lang="en-IN" dirty="0"/>
              <a:t>Result</a:t>
            </a:r>
          </a:p>
          <a:p>
            <a:r>
              <a:rPr lang="en-IN" dirty="0"/>
              <a:t>Advantages </a:t>
            </a:r>
          </a:p>
          <a:p>
            <a:r>
              <a:rPr lang="en-IN" dirty="0"/>
              <a:t>Applications </a:t>
            </a:r>
          </a:p>
          <a:p>
            <a:r>
              <a:rPr lang="en-IN" dirty="0"/>
              <a:t>Conclusion </a:t>
            </a:r>
          </a:p>
          <a:p>
            <a:r>
              <a:rPr lang="en-IN" dirty="0"/>
              <a:t>Future Scope</a:t>
            </a:r>
          </a:p>
          <a:p>
            <a:r>
              <a:rPr lang="en-IN" dirty="0"/>
              <a:t>Reference</a:t>
            </a:r>
          </a:p>
          <a:p>
            <a:endParaRPr lang="en-IN" dirty="0"/>
          </a:p>
        </p:txBody>
      </p:sp>
    </p:spTree>
    <p:extLst>
      <p:ext uri="{BB962C8B-B14F-4D97-AF65-F5344CB8AC3E}">
        <p14:creationId xmlns:p14="http://schemas.microsoft.com/office/powerpoint/2010/main" val="2424948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AE614-CEC8-FBA8-3C12-1F8210F280BE}"/>
              </a:ext>
            </a:extLst>
          </p:cNvPr>
          <p:cNvSpPr>
            <a:spLocks noGrp="1"/>
          </p:cNvSpPr>
          <p:nvPr>
            <p:ph type="title"/>
          </p:nvPr>
        </p:nvSpPr>
        <p:spPr/>
        <p:txBody>
          <a:bodyPr/>
          <a:lstStyle/>
          <a:p>
            <a:r>
              <a:rPr lang="en-IN" dirty="0">
                <a:solidFill>
                  <a:schemeClr val="accent1">
                    <a:lumMod val="75000"/>
                  </a:schemeClr>
                </a:solidFill>
              </a:rPr>
              <a:t>Introduction:</a:t>
            </a:r>
          </a:p>
        </p:txBody>
      </p:sp>
      <p:sp>
        <p:nvSpPr>
          <p:cNvPr id="3" name="Content Placeholder 2">
            <a:extLst>
              <a:ext uri="{FF2B5EF4-FFF2-40B4-BE49-F238E27FC236}">
                <a16:creationId xmlns:a16="http://schemas.microsoft.com/office/drawing/2014/main" id="{9F04229D-2173-6B62-46FF-9B5E4B5A63F2}"/>
              </a:ext>
            </a:extLst>
          </p:cNvPr>
          <p:cNvSpPr>
            <a:spLocks noGrp="1"/>
          </p:cNvSpPr>
          <p:nvPr>
            <p:ph idx="1"/>
          </p:nvPr>
        </p:nvSpPr>
        <p:spPr/>
        <p:txBody>
          <a:bodyPr>
            <a:normAutofit/>
          </a:bodyPr>
          <a:lstStyle/>
          <a:p>
            <a:pPr marL="0" indent="0">
              <a:buNone/>
            </a:pPr>
            <a:r>
              <a:rPr lang="en-US" sz="2400" b="1" dirty="0">
                <a:solidFill>
                  <a:schemeClr val="accent2">
                    <a:lumMod val="50000"/>
                  </a:schemeClr>
                </a:solidFill>
              </a:rPr>
              <a:t>Aim: </a:t>
            </a:r>
            <a:r>
              <a:rPr lang="en-US" sz="2000" dirty="0"/>
              <a:t>The main aim of this project is to design and develop a Smart Autonomous Robot that can recognize and respond to human voice commands to perform movements such as moving forward, backward, left, right, and stop, while also providing verbal responses through a speech system. </a:t>
            </a:r>
          </a:p>
          <a:p>
            <a:pPr marL="0" indent="0">
              <a:buNone/>
            </a:pPr>
            <a:r>
              <a:rPr lang="en-US" sz="2400" b="1" dirty="0">
                <a:solidFill>
                  <a:schemeClr val="accent2">
                    <a:lumMod val="50000"/>
                  </a:schemeClr>
                </a:solidFill>
              </a:rPr>
              <a:t>Previous: </a:t>
            </a:r>
            <a:r>
              <a:rPr lang="en-US" sz="2000" dirty="0"/>
              <a:t>In earlier robotic systems, control was primarily achieved through manual or remote-operated mechanisms such as joysticks, switches, or infrared remote controls. These systems required continuous human intervention and physical input to perform even simple movements like moving forward or turning, which limited their efficiency and flexibility. </a:t>
            </a:r>
          </a:p>
          <a:p>
            <a:pPr marL="0" indent="0">
              <a:buNone/>
            </a:pPr>
            <a:r>
              <a:rPr lang="en-US" sz="2400" b="1" dirty="0">
                <a:solidFill>
                  <a:schemeClr val="accent2">
                    <a:lumMod val="50000"/>
                  </a:schemeClr>
                </a:solidFill>
              </a:rPr>
              <a:t>Propose: </a:t>
            </a:r>
            <a:r>
              <a:rPr lang="en-US" sz="2000" dirty="0"/>
              <a:t>The proposed system introduces a Smart Autonomous Robot that overcomes the limitations of traditional manually controlled robots. This system allows the robot to be operated entirely through human voice commands, eliminating the need for physical input devices such as remotes or switches. </a:t>
            </a:r>
            <a:endParaRPr lang="en-IN" sz="2000" dirty="0"/>
          </a:p>
        </p:txBody>
      </p:sp>
    </p:spTree>
    <p:extLst>
      <p:ext uri="{BB962C8B-B14F-4D97-AF65-F5344CB8AC3E}">
        <p14:creationId xmlns:p14="http://schemas.microsoft.com/office/powerpoint/2010/main" val="2431255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BB910-CE30-3969-6D71-1B3C7C5AD664}"/>
              </a:ext>
            </a:extLst>
          </p:cNvPr>
          <p:cNvSpPr>
            <a:spLocks noGrp="1"/>
          </p:cNvSpPr>
          <p:nvPr>
            <p:ph type="title"/>
          </p:nvPr>
        </p:nvSpPr>
        <p:spPr/>
        <p:txBody>
          <a:bodyPr>
            <a:normAutofit/>
          </a:bodyPr>
          <a:lstStyle/>
          <a:p>
            <a:r>
              <a:rPr lang="en-IN" sz="3600" b="1" dirty="0">
                <a:solidFill>
                  <a:schemeClr val="accent1">
                    <a:lumMod val="75000"/>
                  </a:schemeClr>
                </a:solidFill>
              </a:rPr>
              <a:t>BLOCK DIAGRAM:</a:t>
            </a:r>
          </a:p>
        </p:txBody>
      </p:sp>
      <p:sp>
        <p:nvSpPr>
          <p:cNvPr id="4" name="Rectangle 3">
            <a:extLst>
              <a:ext uri="{FF2B5EF4-FFF2-40B4-BE49-F238E27FC236}">
                <a16:creationId xmlns:a16="http://schemas.microsoft.com/office/drawing/2014/main" id="{03B3DCFC-0B3B-CB95-9E69-F7666CB31AEF}"/>
              </a:ext>
            </a:extLst>
          </p:cNvPr>
          <p:cNvSpPr/>
          <p:nvPr/>
        </p:nvSpPr>
        <p:spPr>
          <a:xfrm>
            <a:off x="2664938" y="3512298"/>
            <a:ext cx="1400433" cy="646329"/>
          </a:xfrm>
          <a:prstGeom prst="rect">
            <a:avLst/>
          </a:prstGeom>
          <a:solidFill>
            <a:srgbClr val="FFFFFF"/>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1800" b="0" i="0" u="none" strike="noStrike" cap="none" spc="0" normalizeH="0" baseline="0" dirty="0">
                <a:ln>
                  <a:noFill/>
                </a:ln>
                <a:solidFill>
                  <a:srgbClr val="000000"/>
                </a:solidFill>
                <a:effectLst/>
                <a:uFillTx/>
                <a:latin typeface="Avenir Next LT Pro"/>
                <a:ea typeface="Avenir Next LT Pro"/>
                <a:cs typeface="Avenir Next LT Pro"/>
                <a:sym typeface="Avenir Next LT Pro"/>
              </a:rPr>
              <a:t>Ultrasonic sensors </a:t>
            </a:r>
            <a:endParaRPr kumimoji="0" lang="en-US" sz="1800" b="0" i="0" u="none" strike="noStrike" cap="none" spc="0" normalizeH="0" baseline="0" dirty="0">
              <a:ln>
                <a:noFill/>
              </a:ln>
              <a:solidFill>
                <a:srgbClr val="000000"/>
              </a:solidFill>
              <a:effectLst/>
              <a:uFillTx/>
              <a:latin typeface="Avenir Next LT Pro"/>
              <a:ea typeface="Avenir Next LT Pro"/>
              <a:cs typeface="Avenir Next LT Pro"/>
              <a:sym typeface="Avenir Next LT Pro"/>
            </a:endParaRPr>
          </a:p>
        </p:txBody>
      </p:sp>
      <p:sp>
        <p:nvSpPr>
          <p:cNvPr id="5" name="Rectangle 4">
            <a:extLst>
              <a:ext uri="{FF2B5EF4-FFF2-40B4-BE49-F238E27FC236}">
                <a16:creationId xmlns:a16="http://schemas.microsoft.com/office/drawing/2014/main" id="{9927CF7B-DA91-DD09-9AD3-0A1C01B6187F}"/>
              </a:ext>
            </a:extLst>
          </p:cNvPr>
          <p:cNvSpPr/>
          <p:nvPr/>
        </p:nvSpPr>
        <p:spPr>
          <a:xfrm>
            <a:off x="2664938" y="2560656"/>
            <a:ext cx="1400433" cy="369330"/>
          </a:xfrm>
          <a:prstGeom prst="rect">
            <a:avLst/>
          </a:prstGeom>
          <a:solidFill>
            <a:srgbClr val="FFFFFF"/>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1800" b="0" i="0" u="none" strike="noStrike" cap="none" spc="0" normalizeH="0" baseline="0" dirty="0">
                <a:ln>
                  <a:noFill/>
                </a:ln>
                <a:solidFill>
                  <a:srgbClr val="000000"/>
                </a:solidFill>
                <a:effectLst/>
                <a:uFillTx/>
                <a:latin typeface="Avenir Next LT Pro"/>
                <a:ea typeface="Avenir Next LT Pro"/>
                <a:cs typeface="Avenir Next LT Pro"/>
                <a:sym typeface="Avenir Next LT Pro"/>
              </a:rPr>
              <a:t>Camera</a:t>
            </a:r>
            <a:endParaRPr kumimoji="0" lang="en-US" sz="1800" b="0" i="0" u="none" strike="noStrike" cap="none" spc="0" normalizeH="0" baseline="0" dirty="0">
              <a:ln>
                <a:noFill/>
              </a:ln>
              <a:solidFill>
                <a:srgbClr val="000000"/>
              </a:solidFill>
              <a:effectLst/>
              <a:uFillTx/>
              <a:latin typeface="Avenir Next LT Pro"/>
              <a:ea typeface="Avenir Next LT Pro"/>
              <a:cs typeface="Avenir Next LT Pro"/>
              <a:sym typeface="Avenir Next LT Pro"/>
            </a:endParaRPr>
          </a:p>
        </p:txBody>
      </p:sp>
      <p:sp>
        <p:nvSpPr>
          <p:cNvPr id="6" name="Rectangle 5">
            <a:extLst>
              <a:ext uri="{FF2B5EF4-FFF2-40B4-BE49-F238E27FC236}">
                <a16:creationId xmlns:a16="http://schemas.microsoft.com/office/drawing/2014/main" id="{30C7CB29-5DCB-CD37-1907-B72664E8B570}"/>
              </a:ext>
            </a:extLst>
          </p:cNvPr>
          <p:cNvSpPr/>
          <p:nvPr/>
        </p:nvSpPr>
        <p:spPr>
          <a:xfrm>
            <a:off x="8826845" y="4726976"/>
            <a:ext cx="1400433" cy="646329"/>
          </a:xfrm>
          <a:prstGeom prst="rect">
            <a:avLst/>
          </a:prstGeom>
          <a:solidFill>
            <a:srgbClr val="FFFFFF"/>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1800" b="0" i="0" u="none" strike="noStrike" cap="none" spc="0" normalizeH="0" baseline="0" dirty="0">
                <a:ln>
                  <a:noFill/>
                </a:ln>
                <a:solidFill>
                  <a:srgbClr val="000000"/>
                </a:solidFill>
                <a:effectLst/>
                <a:uFillTx/>
                <a:latin typeface="Avenir Next LT Pro"/>
                <a:ea typeface="Avenir Next LT Pro"/>
                <a:cs typeface="Avenir Next LT Pro"/>
                <a:sym typeface="Avenir Next LT Pro"/>
              </a:rPr>
              <a:t>Motor  Drivers</a:t>
            </a:r>
            <a:endParaRPr kumimoji="0" lang="en-US" sz="1800" b="0" i="0" u="none" strike="noStrike" cap="none" spc="0" normalizeH="0" baseline="0" dirty="0">
              <a:ln>
                <a:noFill/>
              </a:ln>
              <a:solidFill>
                <a:srgbClr val="000000"/>
              </a:solidFill>
              <a:effectLst/>
              <a:uFillTx/>
              <a:latin typeface="Avenir Next LT Pro"/>
              <a:ea typeface="Avenir Next LT Pro"/>
              <a:cs typeface="Avenir Next LT Pro"/>
              <a:sym typeface="Avenir Next LT Pro"/>
            </a:endParaRPr>
          </a:p>
        </p:txBody>
      </p:sp>
      <p:sp>
        <p:nvSpPr>
          <p:cNvPr id="7" name="Rectangle 6">
            <a:extLst>
              <a:ext uri="{FF2B5EF4-FFF2-40B4-BE49-F238E27FC236}">
                <a16:creationId xmlns:a16="http://schemas.microsoft.com/office/drawing/2014/main" id="{DB05B875-61EA-6FDE-64FC-7CBDC59DAFC2}"/>
              </a:ext>
            </a:extLst>
          </p:cNvPr>
          <p:cNvSpPr/>
          <p:nvPr/>
        </p:nvSpPr>
        <p:spPr>
          <a:xfrm>
            <a:off x="8826845" y="2560656"/>
            <a:ext cx="1400433" cy="369330"/>
          </a:xfrm>
          <a:prstGeom prst="rect">
            <a:avLst/>
          </a:prstGeom>
          <a:solidFill>
            <a:srgbClr val="FFFFFF"/>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1800" b="0" i="0" u="none" strike="noStrike" cap="none" spc="0" normalizeH="0" baseline="0" dirty="0">
                <a:ln>
                  <a:noFill/>
                </a:ln>
                <a:solidFill>
                  <a:srgbClr val="000000"/>
                </a:solidFill>
                <a:effectLst/>
                <a:uFillTx/>
                <a:latin typeface="Avenir Next LT Pro"/>
                <a:ea typeface="Avenir Next LT Pro"/>
                <a:cs typeface="Avenir Next LT Pro"/>
                <a:sym typeface="Avenir Next LT Pro"/>
              </a:rPr>
              <a:t>XPT2046</a:t>
            </a:r>
            <a:endParaRPr kumimoji="0" lang="en-US" sz="1800" b="0" i="0" u="none" strike="noStrike" cap="none" spc="0" normalizeH="0" baseline="0" dirty="0">
              <a:ln>
                <a:noFill/>
              </a:ln>
              <a:solidFill>
                <a:srgbClr val="000000"/>
              </a:solidFill>
              <a:effectLst/>
              <a:uFillTx/>
              <a:latin typeface="Avenir Next LT Pro"/>
              <a:ea typeface="Avenir Next LT Pro"/>
              <a:cs typeface="Avenir Next LT Pro"/>
              <a:sym typeface="Avenir Next LT Pro"/>
            </a:endParaRPr>
          </a:p>
        </p:txBody>
      </p:sp>
      <p:sp>
        <p:nvSpPr>
          <p:cNvPr id="8" name="Rectangle 7">
            <a:extLst>
              <a:ext uri="{FF2B5EF4-FFF2-40B4-BE49-F238E27FC236}">
                <a16:creationId xmlns:a16="http://schemas.microsoft.com/office/drawing/2014/main" id="{AA468DDF-9FE9-E475-E631-8A0164498C4F}"/>
              </a:ext>
            </a:extLst>
          </p:cNvPr>
          <p:cNvSpPr/>
          <p:nvPr/>
        </p:nvSpPr>
        <p:spPr>
          <a:xfrm>
            <a:off x="8826845" y="3650797"/>
            <a:ext cx="1400433" cy="369330"/>
          </a:xfrm>
          <a:prstGeom prst="rect">
            <a:avLst/>
          </a:prstGeom>
          <a:solidFill>
            <a:srgbClr val="FFFFFF"/>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1800" b="0" i="0" u="none" strike="noStrike" cap="none" spc="0" normalizeH="0" baseline="0" dirty="0">
                <a:ln>
                  <a:noFill/>
                </a:ln>
                <a:solidFill>
                  <a:srgbClr val="000000"/>
                </a:solidFill>
                <a:effectLst/>
                <a:uFillTx/>
                <a:latin typeface="Avenir Next LT Pro"/>
                <a:ea typeface="Avenir Next LT Pro"/>
                <a:cs typeface="Avenir Next LT Pro"/>
                <a:sym typeface="Avenir Next LT Pro"/>
              </a:rPr>
              <a:t> Speaker</a:t>
            </a:r>
            <a:endParaRPr kumimoji="0" lang="en-US" sz="1800" b="0" i="0" u="none" strike="noStrike" cap="none" spc="0" normalizeH="0" baseline="0" dirty="0">
              <a:ln>
                <a:noFill/>
              </a:ln>
              <a:solidFill>
                <a:srgbClr val="000000"/>
              </a:solidFill>
              <a:effectLst/>
              <a:uFillTx/>
              <a:latin typeface="Avenir Next LT Pro"/>
              <a:ea typeface="Avenir Next LT Pro"/>
              <a:cs typeface="Avenir Next LT Pro"/>
              <a:sym typeface="Avenir Next LT Pro"/>
            </a:endParaRPr>
          </a:p>
        </p:txBody>
      </p:sp>
      <p:sp>
        <p:nvSpPr>
          <p:cNvPr id="9" name="Rectangle 8">
            <a:extLst>
              <a:ext uri="{FF2B5EF4-FFF2-40B4-BE49-F238E27FC236}">
                <a16:creationId xmlns:a16="http://schemas.microsoft.com/office/drawing/2014/main" id="{1E623B3B-A82A-7097-0005-93D3F84D9A7A}"/>
              </a:ext>
            </a:extLst>
          </p:cNvPr>
          <p:cNvSpPr/>
          <p:nvPr/>
        </p:nvSpPr>
        <p:spPr>
          <a:xfrm>
            <a:off x="2664938" y="4740938"/>
            <a:ext cx="1400433" cy="369330"/>
          </a:xfrm>
          <a:prstGeom prst="rect">
            <a:avLst/>
          </a:prstGeom>
          <a:solidFill>
            <a:srgbClr val="FFFFFF"/>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1800" b="0" i="0" u="none" strike="noStrike" cap="none" spc="0" normalizeH="0" baseline="0" dirty="0">
                <a:ln>
                  <a:noFill/>
                </a:ln>
                <a:solidFill>
                  <a:srgbClr val="000000"/>
                </a:solidFill>
                <a:effectLst/>
                <a:uFillTx/>
                <a:latin typeface="Avenir Next LT Pro"/>
                <a:ea typeface="Avenir Next LT Pro"/>
                <a:cs typeface="Avenir Next LT Pro"/>
                <a:sym typeface="Avenir Next LT Pro"/>
              </a:rPr>
              <a:t>USB Mic</a:t>
            </a:r>
            <a:endParaRPr kumimoji="0" lang="en-US" sz="1800" b="0" i="0" u="none" strike="noStrike" cap="none" spc="0" normalizeH="0" baseline="0" dirty="0">
              <a:ln>
                <a:noFill/>
              </a:ln>
              <a:solidFill>
                <a:srgbClr val="000000"/>
              </a:solidFill>
              <a:effectLst/>
              <a:uFillTx/>
              <a:latin typeface="Avenir Next LT Pro"/>
              <a:ea typeface="Avenir Next LT Pro"/>
              <a:cs typeface="Avenir Next LT Pro"/>
              <a:sym typeface="Avenir Next LT Pro"/>
            </a:endParaRPr>
          </a:p>
        </p:txBody>
      </p:sp>
      <p:cxnSp>
        <p:nvCxnSpPr>
          <p:cNvPr id="12" name="Straight Arrow Connector 11">
            <a:extLst>
              <a:ext uri="{FF2B5EF4-FFF2-40B4-BE49-F238E27FC236}">
                <a16:creationId xmlns:a16="http://schemas.microsoft.com/office/drawing/2014/main" id="{18ABD9BB-545C-E485-ACFF-520735CA863E}"/>
              </a:ext>
            </a:extLst>
          </p:cNvPr>
          <p:cNvCxnSpPr>
            <a:cxnSpLocks/>
            <a:stCxn id="5" idx="3"/>
          </p:cNvCxnSpPr>
          <p:nvPr/>
        </p:nvCxnSpPr>
        <p:spPr>
          <a:xfrm>
            <a:off x="4065371" y="2745321"/>
            <a:ext cx="787523" cy="0"/>
          </a:xfrm>
          <a:prstGeom prst="straightConnector1">
            <a:avLst/>
          </a:prstGeom>
          <a:noFill/>
          <a:ln w="127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cxnSp>
        <p:nvCxnSpPr>
          <p:cNvPr id="13" name="Straight Arrow Connector 12">
            <a:extLst>
              <a:ext uri="{FF2B5EF4-FFF2-40B4-BE49-F238E27FC236}">
                <a16:creationId xmlns:a16="http://schemas.microsoft.com/office/drawing/2014/main" id="{3731E238-9338-056C-1AB4-AC492DAAFE73}"/>
              </a:ext>
            </a:extLst>
          </p:cNvPr>
          <p:cNvCxnSpPr>
            <a:cxnSpLocks/>
            <a:stCxn id="4" idx="3"/>
          </p:cNvCxnSpPr>
          <p:nvPr/>
        </p:nvCxnSpPr>
        <p:spPr>
          <a:xfrm flipV="1">
            <a:off x="4065371" y="3799954"/>
            <a:ext cx="787523" cy="35509"/>
          </a:xfrm>
          <a:prstGeom prst="straightConnector1">
            <a:avLst/>
          </a:prstGeom>
          <a:noFill/>
          <a:ln w="127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cxnSp>
        <p:nvCxnSpPr>
          <p:cNvPr id="14" name="Straight Arrow Connector 13">
            <a:extLst>
              <a:ext uri="{FF2B5EF4-FFF2-40B4-BE49-F238E27FC236}">
                <a16:creationId xmlns:a16="http://schemas.microsoft.com/office/drawing/2014/main" id="{1CFD97F1-8D9F-0CE0-5801-8EA732C696FF}"/>
              </a:ext>
            </a:extLst>
          </p:cNvPr>
          <p:cNvCxnSpPr>
            <a:cxnSpLocks/>
            <a:stCxn id="9" idx="3"/>
          </p:cNvCxnSpPr>
          <p:nvPr/>
        </p:nvCxnSpPr>
        <p:spPr>
          <a:xfrm>
            <a:off x="4065371" y="4925603"/>
            <a:ext cx="787523" cy="0"/>
          </a:xfrm>
          <a:prstGeom prst="straightConnector1">
            <a:avLst/>
          </a:prstGeom>
          <a:noFill/>
          <a:ln w="127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cxnSp>
        <p:nvCxnSpPr>
          <p:cNvPr id="15" name="Straight Arrow Connector 14">
            <a:extLst>
              <a:ext uri="{FF2B5EF4-FFF2-40B4-BE49-F238E27FC236}">
                <a16:creationId xmlns:a16="http://schemas.microsoft.com/office/drawing/2014/main" id="{5CBBD039-69AE-F304-A7C0-F1A9A9EE81FC}"/>
              </a:ext>
            </a:extLst>
          </p:cNvPr>
          <p:cNvCxnSpPr>
            <a:cxnSpLocks/>
            <a:endCxn id="7" idx="1"/>
          </p:cNvCxnSpPr>
          <p:nvPr/>
        </p:nvCxnSpPr>
        <p:spPr>
          <a:xfrm>
            <a:off x="7704400" y="2745321"/>
            <a:ext cx="1122445" cy="0"/>
          </a:xfrm>
          <a:prstGeom prst="straightConnector1">
            <a:avLst/>
          </a:prstGeom>
          <a:noFill/>
          <a:ln w="127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cxnSp>
        <p:nvCxnSpPr>
          <p:cNvPr id="16" name="Straight Arrow Connector 15">
            <a:extLst>
              <a:ext uri="{FF2B5EF4-FFF2-40B4-BE49-F238E27FC236}">
                <a16:creationId xmlns:a16="http://schemas.microsoft.com/office/drawing/2014/main" id="{F285B87D-D29A-BA69-B8F8-7AA0DA9656FE}"/>
              </a:ext>
            </a:extLst>
          </p:cNvPr>
          <p:cNvCxnSpPr>
            <a:cxnSpLocks/>
            <a:endCxn id="8" idx="1"/>
          </p:cNvCxnSpPr>
          <p:nvPr/>
        </p:nvCxnSpPr>
        <p:spPr>
          <a:xfrm>
            <a:off x="7777893" y="3799954"/>
            <a:ext cx="1048952" cy="35508"/>
          </a:xfrm>
          <a:prstGeom prst="straightConnector1">
            <a:avLst/>
          </a:prstGeom>
          <a:noFill/>
          <a:ln w="127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cxnSp>
        <p:nvCxnSpPr>
          <p:cNvPr id="17" name="Straight Arrow Connector 16">
            <a:extLst>
              <a:ext uri="{FF2B5EF4-FFF2-40B4-BE49-F238E27FC236}">
                <a16:creationId xmlns:a16="http://schemas.microsoft.com/office/drawing/2014/main" id="{EE53C4A6-FF62-5C02-C65A-DF6AEF67684F}"/>
              </a:ext>
            </a:extLst>
          </p:cNvPr>
          <p:cNvCxnSpPr>
            <a:cxnSpLocks/>
            <a:endCxn id="6" idx="1"/>
          </p:cNvCxnSpPr>
          <p:nvPr/>
        </p:nvCxnSpPr>
        <p:spPr>
          <a:xfrm>
            <a:off x="7704400" y="4981433"/>
            <a:ext cx="1122445" cy="68708"/>
          </a:xfrm>
          <a:prstGeom prst="straightConnector1">
            <a:avLst/>
          </a:prstGeom>
          <a:noFill/>
          <a:ln w="127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sp>
        <p:nvSpPr>
          <p:cNvPr id="20" name="Rectangle: Rounded Corners 19">
            <a:extLst>
              <a:ext uri="{FF2B5EF4-FFF2-40B4-BE49-F238E27FC236}">
                <a16:creationId xmlns:a16="http://schemas.microsoft.com/office/drawing/2014/main" id="{50A0FF43-E848-D339-FF7C-97F80BF0D5CC}"/>
              </a:ext>
            </a:extLst>
          </p:cNvPr>
          <p:cNvSpPr/>
          <p:nvPr/>
        </p:nvSpPr>
        <p:spPr>
          <a:xfrm>
            <a:off x="4779401" y="1710433"/>
            <a:ext cx="2924999" cy="3880728"/>
          </a:xfrm>
          <a:prstGeom prst="roundRect">
            <a:avLst/>
          </a:prstGeom>
          <a:solidFill>
            <a:srgbClr val="FFFFFF"/>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venir Next LT Pro"/>
              <a:ea typeface="Avenir Next LT Pro"/>
              <a:cs typeface="Avenir Next LT Pro"/>
              <a:sym typeface="Avenir Next LT Pro"/>
            </a:endParaRPr>
          </a:p>
        </p:txBody>
      </p:sp>
      <p:pic>
        <p:nvPicPr>
          <p:cNvPr id="21" name="Picture 20">
            <a:extLst>
              <a:ext uri="{FF2B5EF4-FFF2-40B4-BE49-F238E27FC236}">
                <a16:creationId xmlns:a16="http://schemas.microsoft.com/office/drawing/2014/main" id="{B81A4348-5FBC-2367-5A9D-D9EF3A28781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79250" y="2263477"/>
            <a:ext cx="2598794" cy="3109828"/>
          </a:xfrm>
          <a:prstGeom prst="rect">
            <a:avLst/>
          </a:prstGeom>
        </p:spPr>
      </p:pic>
      <p:sp>
        <p:nvSpPr>
          <p:cNvPr id="23" name="Rectangle 22">
            <a:extLst>
              <a:ext uri="{FF2B5EF4-FFF2-40B4-BE49-F238E27FC236}">
                <a16:creationId xmlns:a16="http://schemas.microsoft.com/office/drawing/2014/main" id="{809F2AC3-B5B9-2548-4C1A-88C04B218F6B}"/>
              </a:ext>
            </a:extLst>
          </p:cNvPr>
          <p:cNvSpPr/>
          <p:nvPr/>
        </p:nvSpPr>
        <p:spPr>
          <a:xfrm>
            <a:off x="5408705" y="6263454"/>
            <a:ext cx="1680353" cy="45228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dirty="0">
              <a:solidFill>
                <a:srgbClr val="000000"/>
              </a:solidFill>
              <a:latin typeface="Avenir Next LT Pro"/>
              <a:ea typeface="Avenir Next LT Pro"/>
              <a:cs typeface="Avenir Next LT Pro"/>
              <a:sym typeface="Avenir Next LT Pro"/>
            </a:endParaRPr>
          </a:p>
          <a:p>
            <a:pPr algn="ctr"/>
            <a:r>
              <a:rPr lang="en-IN" dirty="0">
                <a:solidFill>
                  <a:srgbClr val="000000"/>
                </a:solidFill>
                <a:latin typeface="Avenir Next LT Pro"/>
                <a:ea typeface="Avenir Next LT Pro"/>
                <a:cs typeface="Avenir Next LT Pro"/>
                <a:sym typeface="Avenir Next LT Pro"/>
              </a:rPr>
              <a:t>Raspberry Pi</a:t>
            </a:r>
            <a:endParaRPr lang="en-US" dirty="0">
              <a:solidFill>
                <a:srgbClr val="000000"/>
              </a:solidFill>
              <a:latin typeface="Avenir Next LT Pro"/>
              <a:ea typeface="Avenir Next LT Pro"/>
              <a:cs typeface="Avenir Next LT Pro"/>
              <a:sym typeface="Avenir Next LT Pro"/>
            </a:endParaRPr>
          </a:p>
          <a:p>
            <a:pPr algn="ctr"/>
            <a:endParaRPr lang="en-IN" dirty="0"/>
          </a:p>
        </p:txBody>
      </p:sp>
      <p:cxnSp>
        <p:nvCxnSpPr>
          <p:cNvPr id="27" name="Straight Arrow Connector 26">
            <a:extLst>
              <a:ext uri="{FF2B5EF4-FFF2-40B4-BE49-F238E27FC236}">
                <a16:creationId xmlns:a16="http://schemas.microsoft.com/office/drawing/2014/main" id="{157399B5-FB5F-1228-940D-615B6319F073}"/>
              </a:ext>
            </a:extLst>
          </p:cNvPr>
          <p:cNvCxnSpPr>
            <a:stCxn id="23" idx="0"/>
            <a:endCxn id="20" idx="2"/>
          </p:cNvCxnSpPr>
          <p:nvPr/>
        </p:nvCxnSpPr>
        <p:spPr>
          <a:xfrm flipH="1" flipV="1">
            <a:off x="6241901" y="5591161"/>
            <a:ext cx="6981" cy="6722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66BBE886-12CF-11E0-A178-14355F0F92D8}"/>
              </a:ext>
            </a:extLst>
          </p:cNvPr>
          <p:cNvSpPr/>
          <p:nvPr/>
        </p:nvSpPr>
        <p:spPr>
          <a:xfrm>
            <a:off x="10609006" y="4740938"/>
            <a:ext cx="1199536" cy="63236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latin typeface="Avenir Next LT Pro" panose="020B0504020202020204" pitchFamily="34" charset="0"/>
              </a:rPr>
              <a:t>Dc Motor</a:t>
            </a:r>
            <a:endParaRPr lang="en-IN" dirty="0">
              <a:ln w="0"/>
              <a:solidFill>
                <a:schemeClr val="tx1"/>
              </a:solidFill>
              <a:effectLst>
                <a:outerShdw blurRad="38100" dist="19050" dir="2700000" algn="tl" rotWithShape="0">
                  <a:schemeClr val="dk1">
                    <a:alpha val="40000"/>
                  </a:schemeClr>
                </a:outerShdw>
              </a:effectLst>
              <a:latin typeface="Avenir Next LT Pro" panose="020B0504020202020204" pitchFamily="34" charset="0"/>
            </a:endParaRPr>
          </a:p>
        </p:txBody>
      </p:sp>
      <p:cxnSp>
        <p:nvCxnSpPr>
          <p:cNvPr id="11" name="Straight Arrow Connector 10">
            <a:extLst>
              <a:ext uri="{FF2B5EF4-FFF2-40B4-BE49-F238E27FC236}">
                <a16:creationId xmlns:a16="http://schemas.microsoft.com/office/drawing/2014/main" id="{60C68DE8-D5F9-018A-6D7A-5E9FE837062B}"/>
              </a:ext>
            </a:extLst>
          </p:cNvPr>
          <p:cNvCxnSpPr>
            <a:stCxn id="6" idx="3"/>
            <a:endCxn id="3" idx="1"/>
          </p:cNvCxnSpPr>
          <p:nvPr/>
        </p:nvCxnSpPr>
        <p:spPr>
          <a:xfrm>
            <a:off x="10227278" y="5050141"/>
            <a:ext cx="381728" cy="69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9031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952B8-C2C2-2721-E1E2-4407B6A0063E}"/>
              </a:ext>
            </a:extLst>
          </p:cNvPr>
          <p:cNvSpPr>
            <a:spLocks noGrp="1"/>
          </p:cNvSpPr>
          <p:nvPr>
            <p:ph type="title"/>
          </p:nvPr>
        </p:nvSpPr>
        <p:spPr/>
        <p:txBody>
          <a:bodyPr/>
          <a:lstStyle/>
          <a:p>
            <a:r>
              <a:rPr lang="en-IN" dirty="0">
                <a:solidFill>
                  <a:schemeClr val="accent1">
                    <a:lumMod val="75000"/>
                  </a:schemeClr>
                </a:solidFill>
              </a:rPr>
              <a:t>RASPBERRY PI 4</a:t>
            </a:r>
          </a:p>
        </p:txBody>
      </p:sp>
      <p:sp>
        <p:nvSpPr>
          <p:cNvPr id="3" name="Content Placeholder 2">
            <a:extLst>
              <a:ext uri="{FF2B5EF4-FFF2-40B4-BE49-F238E27FC236}">
                <a16:creationId xmlns:a16="http://schemas.microsoft.com/office/drawing/2014/main" id="{BDDE2B68-4360-F8B5-5EE4-DFA570A00990}"/>
              </a:ext>
            </a:extLst>
          </p:cNvPr>
          <p:cNvSpPr>
            <a:spLocks noGrp="1"/>
          </p:cNvSpPr>
          <p:nvPr>
            <p:ph idx="1"/>
          </p:nvPr>
        </p:nvSpPr>
        <p:spPr>
          <a:xfrm>
            <a:off x="838200" y="1835457"/>
            <a:ext cx="6427839" cy="4201549"/>
          </a:xfrm>
        </p:spPr>
        <p:txBody>
          <a:bodyPr>
            <a:normAutofit fontScale="92500" lnSpcReduction="10000"/>
          </a:bodyPr>
          <a:lstStyle/>
          <a:p>
            <a:pPr marL="0" indent="0">
              <a:buNone/>
            </a:pPr>
            <a:r>
              <a:rPr lang="en-IN" sz="2000" b="1" dirty="0">
                <a:solidFill>
                  <a:schemeClr val="accent2"/>
                </a:solidFill>
              </a:rPr>
              <a:t>Purpose:</a:t>
            </a:r>
          </a:p>
          <a:p>
            <a:r>
              <a:rPr lang="en-IN" sz="2000" dirty="0"/>
              <a:t>Acts as the main processing unit of the robot, responsible for executing voice commands, controlling hardware components, and managing communication between all modules.</a:t>
            </a:r>
          </a:p>
          <a:p>
            <a:pPr marL="0" indent="0">
              <a:buNone/>
            </a:pPr>
            <a:r>
              <a:rPr lang="en-IN" sz="2000" b="1" dirty="0">
                <a:solidFill>
                  <a:schemeClr val="accent2"/>
                </a:solidFill>
              </a:rPr>
              <a:t>Features:</a:t>
            </a:r>
          </a:p>
          <a:p>
            <a:r>
              <a:rPr lang="en-IN" sz="2000" dirty="0"/>
              <a:t>Broadcom BCM2711 quad-core processor (1.5 GHz) </a:t>
            </a:r>
          </a:p>
          <a:p>
            <a:r>
              <a:rPr lang="en-IN" sz="2000" dirty="0"/>
              <a:t>RAM: 2GB / 4GB / 8GB </a:t>
            </a:r>
          </a:p>
          <a:p>
            <a:r>
              <a:rPr lang="en-IN" sz="2000" dirty="0"/>
              <a:t>Supports Python and Raspberry Pi OS </a:t>
            </a:r>
          </a:p>
          <a:p>
            <a:r>
              <a:rPr lang="en-IN" sz="2000" dirty="0"/>
              <a:t>Built-in Wi-Fi and Bluetooth </a:t>
            </a:r>
          </a:p>
          <a:p>
            <a:r>
              <a:rPr lang="en-IN" sz="2000" dirty="0"/>
              <a:t>GPIO pins for hardware interfacing </a:t>
            </a:r>
          </a:p>
          <a:p>
            <a:r>
              <a:rPr lang="en-IN" sz="2000" b="1" dirty="0"/>
              <a:t>Power Supply:</a:t>
            </a:r>
            <a:r>
              <a:rPr lang="en-IN" sz="2000" dirty="0"/>
              <a:t> 5V, 2.5A–3A (≈ 12–15W)</a:t>
            </a:r>
          </a:p>
          <a:p>
            <a:endParaRPr lang="en-US" sz="2000" dirty="0"/>
          </a:p>
        </p:txBody>
      </p:sp>
      <p:pic>
        <p:nvPicPr>
          <p:cNvPr id="7" name="Picture 6">
            <a:extLst>
              <a:ext uri="{FF2B5EF4-FFF2-40B4-BE49-F238E27FC236}">
                <a16:creationId xmlns:a16="http://schemas.microsoft.com/office/drawing/2014/main" id="{013EC4D2-D8B2-A5CD-E1E2-489AE79E9C4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79890" y="1374058"/>
            <a:ext cx="4109884" cy="4109884"/>
          </a:xfrm>
          <a:prstGeom prst="rect">
            <a:avLst/>
          </a:prstGeom>
        </p:spPr>
      </p:pic>
    </p:spTree>
    <p:extLst>
      <p:ext uri="{BB962C8B-B14F-4D97-AF65-F5344CB8AC3E}">
        <p14:creationId xmlns:p14="http://schemas.microsoft.com/office/powerpoint/2010/main" val="1620741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87B65-616C-826A-55CE-0A78D62DD92D}"/>
              </a:ext>
            </a:extLst>
          </p:cNvPr>
          <p:cNvSpPr>
            <a:spLocks noGrp="1"/>
          </p:cNvSpPr>
          <p:nvPr>
            <p:ph type="title"/>
          </p:nvPr>
        </p:nvSpPr>
        <p:spPr/>
        <p:txBody>
          <a:bodyPr/>
          <a:lstStyle/>
          <a:p>
            <a:r>
              <a:rPr lang="en-IN" dirty="0">
                <a:solidFill>
                  <a:schemeClr val="accent1">
                    <a:lumMod val="75000"/>
                  </a:schemeClr>
                </a:solidFill>
              </a:rPr>
              <a:t>XPT2046: </a:t>
            </a:r>
          </a:p>
        </p:txBody>
      </p:sp>
      <p:sp>
        <p:nvSpPr>
          <p:cNvPr id="3" name="Content Placeholder 2">
            <a:extLst>
              <a:ext uri="{FF2B5EF4-FFF2-40B4-BE49-F238E27FC236}">
                <a16:creationId xmlns:a16="http://schemas.microsoft.com/office/drawing/2014/main" id="{F58E33BA-9528-FF21-5567-B8B1A4559BC7}"/>
              </a:ext>
            </a:extLst>
          </p:cNvPr>
          <p:cNvSpPr>
            <a:spLocks noGrp="1"/>
          </p:cNvSpPr>
          <p:nvPr>
            <p:ph idx="1"/>
          </p:nvPr>
        </p:nvSpPr>
        <p:spPr>
          <a:xfrm>
            <a:off x="838200" y="1825625"/>
            <a:ext cx="6860458" cy="4113059"/>
          </a:xfrm>
        </p:spPr>
        <p:txBody>
          <a:bodyPr>
            <a:normAutofit fontScale="92500" lnSpcReduction="10000"/>
          </a:bodyPr>
          <a:lstStyle/>
          <a:p>
            <a:pPr marL="0" indent="0">
              <a:buNone/>
            </a:pPr>
            <a:r>
              <a:rPr lang="en-US" sz="2000" b="1" dirty="0">
                <a:solidFill>
                  <a:schemeClr val="accent2"/>
                </a:solidFill>
              </a:rPr>
              <a:t>Purpose:</a:t>
            </a:r>
          </a:p>
          <a:p>
            <a:r>
              <a:rPr lang="en-US" sz="2000" dirty="0"/>
              <a:t>Acts as a touch interface controller that detects user touch input on a resistive touchscreen and sends the touch coordinates to the Raspberry Pi, enabling interactive control of the robot system.</a:t>
            </a:r>
          </a:p>
          <a:p>
            <a:pPr marL="0" indent="0">
              <a:buNone/>
            </a:pPr>
            <a:r>
              <a:rPr lang="en-US" sz="2000" b="1" dirty="0"/>
              <a:t> </a:t>
            </a:r>
            <a:r>
              <a:rPr lang="en-US" sz="2000" b="1" dirty="0">
                <a:solidFill>
                  <a:schemeClr val="accent2"/>
                </a:solidFill>
              </a:rPr>
              <a:t>Features:</a:t>
            </a:r>
          </a:p>
          <a:p>
            <a:r>
              <a:rPr lang="en-US" sz="2000" dirty="0"/>
              <a:t>Supports resistive touchscreen input </a:t>
            </a:r>
          </a:p>
          <a:p>
            <a:r>
              <a:rPr lang="en-US" sz="2000" dirty="0"/>
              <a:t>Communicates using SPI protocol </a:t>
            </a:r>
          </a:p>
          <a:p>
            <a:r>
              <a:rPr lang="en-US" sz="2000" dirty="0"/>
              <a:t>High accuracy touch position detection </a:t>
            </a:r>
          </a:p>
          <a:p>
            <a:r>
              <a:rPr lang="en-US" sz="2000" dirty="0"/>
              <a:t>Low power consumption design </a:t>
            </a:r>
          </a:p>
          <a:p>
            <a:r>
              <a:rPr lang="en-US" sz="2000" dirty="0"/>
              <a:t>Compatible with Raspberry Pi and TFT displays </a:t>
            </a:r>
          </a:p>
          <a:p>
            <a:r>
              <a:rPr lang="en-US" sz="2000" dirty="0"/>
              <a:t>Converts analog touch signals into digital data </a:t>
            </a:r>
          </a:p>
          <a:p>
            <a:r>
              <a:rPr lang="en-US" sz="2000" b="1" dirty="0"/>
              <a:t>Power Supply:</a:t>
            </a:r>
            <a:r>
              <a:rPr lang="en-US" sz="2000" dirty="0"/>
              <a:t> 2.2V – 3.6V (typically 3.3V), ≈ 1–5mW</a:t>
            </a:r>
          </a:p>
        </p:txBody>
      </p:sp>
      <p:pic>
        <p:nvPicPr>
          <p:cNvPr id="6" name="Picture 5">
            <a:extLst>
              <a:ext uri="{FF2B5EF4-FFF2-40B4-BE49-F238E27FC236}">
                <a16:creationId xmlns:a16="http://schemas.microsoft.com/office/drawing/2014/main" id="{9337BA68-95E7-223F-C201-EA1343864B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70607" y="2320412"/>
            <a:ext cx="3291349" cy="3291349"/>
          </a:xfrm>
          <a:prstGeom prst="rect">
            <a:avLst/>
          </a:prstGeom>
        </p:spPr>
      </p:pic>
    </p:spTree>
    <p:extLst>
      <p:ext uri="{BB962C8B-B14F-4D97-AF65-F5344CB8AC3E}">
        <p14:creationId xmlns:p14="http://schemas.microsoft.com/office/powerpoint/2010/main" val="12221904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4B858-7A7C-5170-144D-E7D617354081}"/>
              </a:ext>
            </a:extLst>
          </p:cNvPr>
          <p:cNvSpPr>
            <a:spLocks noGrp="1"/>
          </p:cNvSpPr>
          <p:nvPr>
            <p:ph type="title"/>
          </p:nvPr>
        </p:nvSpPr>
        <p:spPr/>
        <p:txBody>
          <a:bodyPr/>
          <a:lstStyle/>
          <a:p>
            <a:r>
              <a:rPr lang="en-IN" dirty="0">
                <a:solidFill>
                  <a:schemeClr val="accent1">
                    <a:lumMod val="75000"/>
                  </a:schemeClr>
                </a:solidFill>
              </a:rPr>
              <a:t>Ultrasonic sensors :</a:t>
            </a:r>
          </a:p>
        </p:txBody>
      </p:sp>
      <p:sp>
        <p:nvSpPr>
          <p:cNvPr id="3" name="Content Placeholder 2">
            <a:extLst>
              <a:ext uri="{FF2B5EF4-FFF2-40B4-BE49-F238E27FC236}">
                <a16:creationId xmlns:a16="http://schemas.microsoft.com/office/drawing/2014/main" id="{2A0B769C-B41F-A945-8B17-3CD258631F59}"/>
              </a:ext>
            </a:extLst>
          </p:cNvPr>
          <p:cNvSpPr>
            <a:spLocks noGrp="1"/>
          </p:cNvSpPr>
          <p:nvPr>
            <p:ph idx="1"/>
          </p:nvPr>
        </p:nvSpPr>
        <p:spPr>
          <a:xfrm>
            <a:off x="838200" y="1690688"/>
            <a:ext cx="6270523" cy="4358865"/>
          </a:xfrm>
        </p:spPr>
        <p:txBody>
          <a:bodyPr>
            <a:normAutofit/>
          </a:bodyPr>
          <a:lstStyle/>
          <a:p>
            <a:pPr marL="0" indent="0">
              <a:buNone/>
            </a:pPr>
            <a:r>
              <a:rPr lang="en-US" sz="2000" b="1" dirty="0">
                <a:solidFill>
                  <a:schemeClr val="accent2"/>
                </a:solidFill>
              </a:rPr>
              <a:t>Purpose:</a:t>
            </a:r>
          </a:p>
          <a:p>
            <a:r>
              <a:rPr lang="en-US" sz="2000" dirty="0"/>
              <a:t>Detects obstacles by measuring distance using ultrasonic waves.</a:t>
            </a:r>
          </a:p>
          <a:p>
            <a:pPr marL="0" indent="0">
              <a:buNone/>
            </a:pPr>
            <a:r>
              <a:rPr lang="en-US" sz="2000" b="1" dirty="0">
                <a:solidFill>
                  <a:schemeClr val="accent2"/>
                </a:solidFill>
              </a:rPr>
              <a:t>Features:</a:t>
            </a:r>
          </a:p>
          <a:p>
            <a:r>
              <a:rPr lang="en-US" sz="2000" dirty="0"/>
              <a:t>Frequency: 40 kHz </a:t>
            </a:r>
          </a:p>
          <a:p>
            <a:r>
              <a:rPr lang="en-US" sz="2000" dirty="0"/>
              <a:t>Range: 2 cm to 400 cm </a:t>
            </a:r>
          </a:p>
          <a:p>
            <a:r>
              <a:rPr lang="en-US" sz="2000" dirty="0"/>
              <a:t>High accuracy </a:t>
            </a:r>
          </a:p>
          <a:p>
            <a:r>
              <a:rPr lang="en-US" sz="2000" dirty="0"/>
              <a:t>Easy GPIO interfacing </a:t>
            </a:r>
          </a:p>
          <a:p>
            <a:r>
              <a:rPr lang="en-US" sz="2000" dirty="0"/>
              <a:t>Low cost </a:t>
            </a:r>
          </a:p>
          <a:p>
            <a:r>
              <a:rPr lang="en-US" sz="2000" b="1" dirty="0"/>
              <a:t>Power Supply:</a:t>
            </a:r>
            <a:r>
              <a:rPr lang="en-US" sz="2000" dirty="0"/>
              <a:t> 5V, 15mA (≈ 0.075W)</a:t>
            </a:r>
          </a:p>
        </p:txBody>
      </p:sp>
      <p:pic>
        <p:nvPicPr>
          <p:cNvPr id="5" name="Picture 4">
            <a:extLst>
              <a:ext uri="{FF2B5EF4-FFF2-40B4-BE49-F238E27FC236}">
                <a16:creationId xmlns:a16="http://schemas.microsoft.com/office/drawing/2014/main" id="{0087969E-6694-8682-A485-B00DA29D9B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92180" y="1917291"/>
            <a:ext cx="3290781" cy="3208512"/>
          </a:xfrm>
          <a:prstGeom prst="rect">
            <a:avLst/>
          </a:prstGeom>
        </p:spPr>
      </p:pic>
    </p:spTree>
    <p:extLst>
      <p:ext uri="{BB962C8B-B14F-4D97-AF65-F5344CB8AC3E}">
        <p14:creationId xmlns:p14="http://schemas.microsoft.com/office/powerpoint/2010/main" val="1047524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8F639-8DA3-CDCF-A659-F83EEFA542E8}"/>
              </a:ext>
            </a:extLst>
          </p:cNvPr>
          <p:cNvSpPr>
            <a:spLocks noGrp="1"/>
          </p:cNvSpPr>
          <p:nvPr>
            <p:ph type="title"/>
          </p:nvPr>
        </p:nvSpPr>
        <p:spPr/>
        <p:txBody>
          <a:bodyPr/>
          <a:lstStyle/>
          <a:p>
            <a:r>
              <a:rPr lang="en-IN" dirty="0">
                <a:solidFill>
                  <a:schemeClr val="accent1">
                    <a:lumMod val="75000"/>
                  </a:schemeClr>
                </a:solidFill>
              </a:rPr>
              <a:t>Camera:</a:t>
            </a:r>
          </a:p>
        </p:txBody>
      </p:sp>
      <p:sp>
        <p:nvSpPr>
          <p:cNvPr id="3" name="Content Placeholder 2">
            <a:extLst>
              <a:ext uri="{FF2B5EF4-FFF2-40B4-BE49-F238E27FC236}">
                <a16:creationId xmlns:a16="http://schemas.microsoft.com/office/drawing/2014/main" id="{E7C214E4-EE79-5DFB-BE4D-FA35E5219F3B}"/>
              </a:ext>
            </a:extLst>
          </p:cNvPr>
          <p:cNvSpPr>
            <a:spLocks noGrp="1"/>
          </p:cNvSpPr>
          <p:nvPr>
            <p:ph idx="1"/>
          </p:nvPr>
        </p:nvSpPr>
        <p:spPr>
          <a:xfrm>
            <a:off x="838200" y="1825625"/>
            <a:ext cx="5424948" cy="4378530"/>
          </a:xfrm>
        </p:spPr>
        <p:txBody>
          <a:bodyPr/>
          <a:lstStyle/>
          <a:p>
            <a:pPr marL="0" indent="0">
              <a:buNone/>
            </a:pPr>
            <a:r>
              <a:rPr lang="en-IN" sz="2000" b="1" dirty="0">
                <a:solidFill>
                  <a:schemeClr val="accent2"/>
                </a:solidFill>
              </a:rPr>
              <a:t>Purpose:</a:t>
            </a:r>
          </a:p>
          <a:p>
            <a:r>
              <a:rPr lang="en-IN" sz="2000" dirty="0"/>
              <a:t>Captures images/videos for vision-based tasks and AI applications.</a:t>
            </a:r>
          </a:p>
          <a:p>
            <a:pPr marL="0" indent="0">
              <a:buNone/>
            </a:pPr>
            <a:r>
              <a:rPr lang="en-IN" sz="2000" b="1" dirty="0">
                <a:solidFill>
                  <a:schemeClr val="accent2"/>
                </a:solidFill>
              </a:rPr>
              <a:t>Features:</a:t>
            </a:r>
          </a:p>
          <a:p>
            <a:r>
              <a:rPr lang="en-IN" sz="2000" dirty="0"/>
              <a:t>High-resolution image capture </a:t>
            </a:r>
          </a:p>
          <a:p>
            <a:r>
              <a:rPr lang="en-IN" sz="2000" dirty="0"/>
              <a:t>Real-time video streaming </a:t>
            </a:r>
          </a:p>
          <a:p>
            <a:r>
              <a:rPr lang="en-IN" sz="2000" dirty="0"/>
              <a:t>CSI interface for fast communication </a:t>
            </a:r>
          </a:p>
          <a:p>
            <a:r>
              <a:rPr lang="en-IN" sz="2000" dirty="0"/>
              <a:t>Supports OpenCV and AI processing </a:t>
            </a:r>
          </a:p>
          <a:p>
            <a:r>
              <a:rPr lang="en-IN" sz="2000" dirty="0"/>
              <a:t>Lightweight module </a:t>
            </a:r>
          </a:p>
          <a:p>
            <a:r>
              <a:rPr lang="en-IN" sz="2000" b="1" dirty="0"/>
              <a:t>Power Supply:</a:t>
            </a:r>
            <a:r>
              <a:rPr lang="en-IN" sz="2000" dirty="0"/>
              <a:t> 5V (≈ 250mA → ~1.25W)</a:t>
            </a:r>
          </a:p>
          <a:p>
            <a:endParaRPr lang="en-US" sz="2000" dirty="0"/>
          </a:p>
        </p:txBody>
      </p:sp>
      <p:pic>
        <p:nvPicPr>
          <p:cNvPr id="5" name="Picture 4">
            <a:extLst>
              <a:ext uri="{FF2B5EF4-FFF2-40B4-BE49-F238E27FC236}">
                <a16:creationId xmlns:a16="http://schemas.microsoft.com/office/drawing/2014/main" id="{B2FD9AB3-3B88-5C3F-5ADD-55FAA37115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25490" y="1515243"/>
            <a:ext cx="3984807" cy="3636861"/>
          </a:xfrm>
          <a:prstGeom prst="rect">
            <a:avLst/>
          </a:prstGeom>
        </p:spPr>
      </p:pic>
    </p:spTree>
    <p:extLst>
      <p:ext uri="{BB962C8B-B14F-4D97-AF65-F5344CB8AC3E}">
        <p14:creationId xmlns:p14="http://schemas.microsoft.com/office/powerpoint/2010/main" val="1179494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631C41-6054-8576-BD23-EFE34FE56BB1}"/>
              </a:ext>
            </a:extLst>
          </p:cNvPr>
          <p:cNvSpPr>
            <a:spLocks noGrp="1"/>
          </p:cNvSpPr>
          <p:nvPr>
            <p:ph idx="1"/>
          </p:nvPr>
        </p:nvSpPr>
        <p:spPr>
          <a:xfrm>
            <a:off x="838200" y="1825625"/>
            <a:ext cx="5513439" cy="4250710"/>
          </a:xfrm>
        </p:spPr>
        <p:txBody>
          <a:bodyPr/>
          <a:lstStyle/>
          <a:p>
            <a:pPr marL="0" indent="0">
              <a:buNone/>
            </a:pPr>
            <a:r>
              <a:rPr lang="en-US" sz="2000" b="1" dirty="0">
                <a:solidFill>
                  <a:schemeClr val="accent2"/>
                </a:solidFill>
              </a:rPr>
              <a:t>Purpose:</a:t>
            </a:r>
          </a:p>
          <a:p>
            <a:r>
              <a:rPr lang="en-US" sz="2000" dirty="0"/>
              <a:t>Provides voice output and audio feedback from the robot.</a:t>
            </a:r>
          </a:p>
          <a:p>
            <a:pPr marL="0" indent="0">
              <a:buNone/>
            </a:pPr>
            <a:r>
              <a:rPr lang="en-US" sz="2000" b="1" dirty="0"/>
              <a:t> </a:t>
            </a:r>
            <a:r>
              <a:rPr lang="en-US" sz="2000" b="1" dirty="0">
                <a:solidFill>
                  <a:schemeClr val="accent2"/>
                </a:solidFill>
              </a:rPr>
              <a:t>Features:</a:t>
            </a:r>
          </a:p>
          <a:p>
            <a:r>
              <a:rPr lang="en-US" sz="2000" dirty="0"/>
              <a:t>Converts digital signals into sound </a:t>
            </a:r>
          </a:p>
          <a:p>
            <a:r>
              <a:rPr lang="en-US" sz="2000" dirty="0"/>
              <a:t>Supports audio jack/USB connection </a:t>
            </a:r>
          </a:p>
          <a:p>
            <a:r>
              <a:rPr lang="en-US" sz="2000" dirty="0"/>
              <a:t>Clear sound output </a:t>
            </a:r>
          </a:p>
          <a:p>
            <a:r>
              <a:rPr lang="en-US" sz="2000" dirty="0"/>
              <a:t>Low power consumption </a:t>
            </a:r>
          </a:p>
          <a:p>
            <a:r>
              <a:rPr lang="en-US" sz="2000" dirty="0"/>
              <a:t>Compact size </a:t>
            </a:r>
          </a:p>
          <a:p>
            <a:r>
              <a:rPr lang="en-US" sz="2000" b="1" dirty="0"/>
              <a:t>Power Supply:</a:t>
            </a:r>
            <a:r>
              <a:rPr lang="en-US" sz="2000" dirty="0"/>
              <a:t> 3W–5W (depends on volume and type)</a:t>
            </a:r>
          </a:p>
          <a:p>
            <a:endParaRPr lang="en-IN" dirty="0"/>
          </a:p>
        </p:txBody>
      </p:sp>
      <p:sp>
        <p:nvSpPr>
          <p:cNvPr id="4" name="Rectangle 1">
            <a:extLst>
              <a:ext uri="{FF2B5EF4-FFF2-40B4-BE49-F238E27FC236}">
                <a16:creationId xmlns:a16="http://schemas.microsoft.com/office/drawing/2014/main" id="{10355845-0B55-BC63-91D2-FF0FD3A4751A}"/>
              </a:ext>
            </a:extLst>
          </p:cNvPr>
          <p:cNvSpPr>
            <a:spLocks noGrp="1" noChangeArrowheads="1"/>
          </p:cNvSpPr>
          <p:nvPr>
            <p:ph type="title"/>
          </p:nvPr>
        </p:nvSpPr>
        <p:spPr bwMode="auto">
          <a:xfrm>
            <a:off x="838200" y="504686"/>
            <a:ext cx="2127442" cy="1046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accent1">
                    <a:lumMod val="75000"/>
                  </a:schemeClr>
                </a:solidFill>
                <a:effectLst/>
              </a:rPr>
              <a:t>Speaker: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ACCD9ED9-B8E7-0897-AA46-0879DC5E40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8546" y="1551126"/>
            <a:ext cx="4324965" cy="4324965"/>
          </a:xfrm>
          <a:prstGeom prst="rect">
            <a:avLst/>
          </a:prstGeom>
        </p:spPr>
      </p:pic>
    </p:spTree>
    <p:extLst>
      <p:ext uri="{BB962C8B-B14F-4D97-AF65-F5344CB8AC3E}">
        <p14:creationId xmlns:p14="http://schemas.microsoft.com/office/powerpoint/2010/main" val="3557174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7F3B7-1D71-4469-905D-494DAC45DD26}"/>
              </a:ext>
            </a:extLst>
          </p:cNvPr>
          <p:cNvSpPr>
            <a:spLocks noGrp="1"/>
          </p:cNvSpPr>
          <p:nvPr>
            <p:ph type="title"/>
          </p:nvPr>
        </p:nvSpPr>
        <p:spPr>
          <a:xfrm>
            <a:off x="720213" y="293585"/>
            <a:ext cx="10515600" cy="1325563"/>
          </a:xfrm>
        </p:spPr>
        <p:txBody>
          <a:bodyPr/>
          <a:lstStyle/>
          <a:p>
            <a:r>
              <a:rPr lang="en-IN" dirty="0">
                <a:solidFill>
                  <a:schemeClr val="accent1">
                    <a:lumMod val="75000"/>
                  </a:schemeClr>
                </a:solidFill>
              </a:rPr>
              <a:t>USB Mic:</a:t>
            </a:r>
          </a:p>
        </p:txBody>
      </p:sp>
      <p:sp>
        <p:nvSpPr>
          <p:cNvPr id="3" name="Content Placeholder 2">
            <a:extLst>
              <a:ext uri="{FF2B5EF4-FFF2-40B4-BE49-F238E27FC236}">
                <a16:creationId xmlns:a16="http://schemas.microsoft.com/office/drawing/2014/main" id="{112E2658-29AA-11CB-C2C6-73A0C3ECF699}"/>
              </a:ext>
            </a:extLst>
          </p:cNvPr>
          <p:cNvSpPr>
            <a:spLocks noGrp="1"/>
          </p:cNvSpPr>
          <p:nvPr>
            <p:ph idx="1"/>
          </p:nvPr>
        </p:nvSpPr>
        <p:spPr>
          <a:xfrm>
            <a:off x="838200" y="1619148"/>
            <a:ext cx="6182032" cy="4781652"/>
          </a:xfrm>
        </p:spPr>
        <p:txBody>
          <a:bodyPr>
            <a:normAutofit/>
          </a:bodyPr>
          <a:lstStyle/>
          <a:p>
            <a:pPr marL="0" indent="0">
              <a:buNone/>
            </a:pPr>
            <a:r>
              <a:rPr lang="en-US" sz="2000" b="1" dirty="0">
                <a:solidFill>
                  <a:schemeClr val="accent2"/>
                </a:solidFill>
              </a:rPr>
              <a:t>Purpose:</a:t>
            </a:r>
          </a:p>
          <a:p>
            <a:r>
              <a:rPr lang="en-US" sz="2000" dirty="0"/>
              <a:t>Captures human voice commands and converts them into digital signals for processing.</a:t>
            </a:r>
          </a:p>
          <a:p>
            <a:pPr marL="0" indent="0">
              <a:buNone/>
            </a:pPr>
            <a:r>
              <a:rPr lang="en-US" sz="2000" b="1" dirty="0">
                <a:solidFill>
                  <a:schemeClr val="accent2"/>
                </a:solidFill>
              </a:rPr>
              <a:t>Features:</a:t>
            </a:r>
          </a:p>
          <a:p>
            <a:r>
              <a:rPr lang="en-US" sz="2000" dirty="0"/>
              <a:t>USB plug-and-play device </a:t>
            </a:r>
          </a:p>
          <a:p>
            <a:r>
              <a:rPr lang="en-US" sz="2000" dirty="0"/>
              <a:t>High sensitivity voice input </a:t>
            </a:r>
          </a:p>
          <a:p>
            <a:r>
              <a:rPr lang="en-US" sz="2000" dirty="0"/>
              <a:t>Built-in ADC (Analog to Digital Conversion) </a:t>
            </a:r>
          </a:p>
          <a:p>
            <a:r>
              <a:rPr lang="en-US" sz="2000" dirty="0"/>
              <a:t>Compatible with speech recognition libraries </a:t>
            </a:r>
          </a:p>
          <a:p>
            <a:r>
              <a:rPr lang="en-US" sz="2000" dirty="0"/>
              <a:t>Compact design </a:t>
            </a:r>
          </a:p>
          <a:p>
            <a:r>
              <a:rPr lang="en-US" sz="2000" b="1" dirty="0"/>
              <a:t>Power Supply:</a:t>
            </a:r>
            <a:r>
              <a:rPr lang="en-US" sz="2000" dirty="0"/>
              <a:t> 5V via USB (≈ 0.1–0.5W)</a:t>
            </a:r>
          </a:p>
        </p:txBody>
      </p:sp>
      <p:pic>
        <p:nvPicPr>
          <p:cNvPr id="5" name="Picture 4">
            <a:extLst>
              <a:ext uri="{FF2B5EF4-FFF2-40B4-BE49-F238E27FC236}">
                <a16:creationId xmlns:a16="http://schemas.microsoft.com/office/drawing/2014/main" id="{60DC47A5-C1DF-5E99-C963-D5E00DA105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1063" y="1939413"/>
            <a:ext cx="3143865" cy="3143865"/>
          </a:xfrm>
          <a:prstGeom prst="rect">
            <a:avLst/>
          </a:prstGeom>
        </p:spPr>
      </p:pic>
    </p:spTree>
    <p:extLst>
      <p:ext uri="{BB962C8B-B14F-4D97-AF65-F5344CB8AC3E}">
        <p14:creationId xmlns:p14="http://schemas.microsoft.com/office/powerpoint/2010/main" val="22529707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26367-94C3-358F-40B0-3A6886A8C34B}"/>
              </a:ext>
            </a:extLst>
          </p:cNvPr>
          <p:cNvSpPr>
            <a:spLocks noGrp="1"/>
          </p:cNvSpPr>
          <p:nvPr>
            <p:ph type="title"/>
          </p:nvPr>
        </p:nvSpPr>
        <p:spPr/>
        <p:txBody>
          <a:bodyPr/>
          <a:lstStyle/>
          <a:p>
            <a:r>
              <a:rPr lang="en-IN" dirty="0">
                <a:solidFill>
                  <a:schemeClr val="accent1">
                    <a:lumMod val="75000"/>
                  </a:schemeClr>
                </a:solidFill>
              </a:rPr>
              <a:t>Motor Drivers :</a:t>
            </a:r>
          </a:p>
        </p:txBody>
      </p:sp>
      <p:sp>
        <p:nvSpPr>
          <p:cNvPr id="3" name="Content Placeholder 2">
            <a:extLst>
              <a:ext uri="{FF2B5EF4-FFF2-40B4-BE49-F238E27FC236}">
                <a16:creationId xmlns:a16="http://schemas.microsoft.com/office/drawing/2014/main" id="{7A821248-5784-5B25-80E9-A60324A49E8C}"/>
              </a:ext>
            </a:extLst>
          </p:cNvPr>
          <p:cNvSpPr>
            <a:spLocks noGrp="1"/>
          </p:cNvSpPr>
          <p:nvPr>
            <p:ph idx="1"/>
          </p:nvPr>
        </p:nvSpPr>
        <p:spPr>
          <a:xfrm>
            <a:off x="838200" y="1825625"/>
            <a:ext cx="6260690" cy="4667250"/>
          </a:xfrm>
        </p:spPr>
        <p:txBody>
          <a:bodyPr>
            <a:normAutofit/>
          </a:bodyPr>
          <a:lstStyle/>
          <a:p>
            <a:pPr marL="0" indent="0">
              <a:buNone/>
            </a:pPr>
            <a:r>
              <a:rPr lang="en-US" sz="2000" b="1" dirty="0">
                <a:solidFill>
                  <a:schemeClr val="accent2"/>
                </a:solidFill>
              </a:rPr>
              <a:t>Purpose:</a:t>
            </a:r>
          </a:p>
          <a:p>
            <a:r>
              <a:rPr lang="en-US" sz="2000" dirty="0"/>
              <a:t>Controls direction and speed of motors by amplifying signals from Raspberry Pi.</a:t>
            </a:r>
          </a:p>
          <a:p>
            <a:pPr marL="0" indent="0">
              <a:buNone/>
            </a:pPr>
            <a:r>
              <a:rPr lang="en-US" sz="2000" b="1" dirty="0"/>
              <a:t> </a:t>
            </a:r>
            <a:r>
              <a:rPr lang="en-US" sz="2000" b="1" dirty="0">
                <a:solidFill>
                  <a:schemeClr val="accent2"/>
                </a:solidFill>
              </a:rPr>
              <a:t>Features:</a:t>
            </a:r>
          </a:p>
          <a:p>
            <a:r>
              <a:rPr lang="en-US" sz="2000" dirty="0"/>
              <a:t>Dual H-bridge motor control </a:t>
            </a:r>
          </a:p>
          <a:p>
            <a:r>
              <a:rPr lang="en-US" sz="2000" dirty="0"/>
              <a:t>Controls two motors simultaneously </a:t>
            </a:r>
          </a:p>
          <a:p>
            <a:r>
              <a:rPr lang="en-US" sz="2000" dirty="0"/>
              <a:t>High current capability </a:t>
            </a:r>
          </a:p>
          <a:p>
            <a:r>
              <a:rPr lang="en-US" sz="2000" dirty="0"/>
              <a:t>Direction and speed control </a:t>
            </a:r>
          </a:p>
          <a:p>
            <a:r>
              <a:rPr lang="en-US" sz="2000" dirty="0"/>
              <a:t>Wide voltage range </a:t>
            </a:r>
          </a:p>
          <a:p>
            <a:r>
              <a:rPr lang="en-US" sz="2000" b="1" dirty="0"/>
              <a:t>Power Supply:</a:t>
            </a:r>
            <a:r>
              <a:rPr lang="en-US" sz="2000" dirty="0"/>
              <a:t> 5V logic + 7V–12V motor supply (≈ up to 25W depending on motors)</a:t>
            </a:r>
          </a:p>
        </p:txBody>
      </p:sp>
      <p:pic>
        <p:nvPicPr>
          <p:cNvPr id="5" name="Picture 4">
            <a:extLst>
              <a:ext uri="{FF2B5EF4-FFF2-40B4-BE49-F238E27FC236}">
                <a16:creationId xmlns:a16="http://schemas.microsoft.com/office/drawing/2014/main" id="{517C9C74-53D5-C59E-27A4-7625EEE8D2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94754" y="1402941"/>
            <a:ext cx="4532671" cy="4532671"/>
          </a:xfrm>
          <a:prstGeom prst="rect">
            <a:avLst/>
          </a:prstGeom>
        </p:spPr>
      </p:pic>
    </p:spTree>
    <p:extLst>
      <p:ext uri="{BB962C8B-B14F-4D97-AF65-F5344CB8AC3E}">
        <p14:creationId xmlns:p14="http://schemas.microsoft.com/office/powerpoint/2010/main" val="1832917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9E44C-EF91-9A84-1797-FA1C08E7C460}"/>
              </a:ext>
            </a:extLst>
          </p:cNvPr>
          <p:cNvSpPr>
            <a:spLocks noGrp="1"/>
          </p:cNvSpPr>
          <p:nvPr>
            <p:ph type="title"/>
          </p:nvPr>
        </p:nvSpPr>
        <p:spPr/>
        <p:txBody>
          <a:bodyPr/>
          <a:lstStyle/>
          <a:p>
            <a:r>
              <a:rPr lang="en-US" dirty="0">
                <a:solidFill>
                  <a:schemeClr val="accent1">
                    <a:lumMod val="75000"/>
                  </a:schemeClr>
                </a:solidFill>
              </a:rPr>
              <a:t>DC MOTOR:</a:t>
            </a:r>
            <a:endParaRPr lang="en-IN" dirty="0">
              <a:solidFill>
                <a:schemeClr val="accent1">
                  <a:lumMod val="75000"/>
                </a:schemeClr>
              </a:solidFill>
            </a:endParaRPr>
          </a:p>
        </p:txBody>
      </p:sp>
      <p:sp>
        <p:nvSpPr>
          <p:cNvPr id="3" name="Content Placeholder 2">
            <a:extLst>
              <a:ext uri="{FF2B5EF4-FFF2-40B4-BE49-F238E27FC236}">
                <a16:creationId xmlns:a16="http://schemas.microsoft.com/office/drawing/2014/main" id="{A937915D-92F0-040A-037D-D83B61046F45}"/>
              </a:ext>
            </a:extLst>
          </p:cNvPr>
          <p:cNvSpPr>
            <a:spLocks noGrp="1"/>
          </p:cNvSpPr>
          <p:nvPr>
            <p:ph idx="1"/>
          </p:nvPr>
        </p:nvSpPr>
        <p:spPr>
          <a:xfrm>
            <a:off x="838200" y="1825625"/>
            <a:ext cx="6359013" cy="4860310"/>
          </a:xfrm>
        </p:spPr>
        <p:txBody>
          <a:bodyPr>
            <a:normAutofit/>
          </a:bodyPr>
          <a:lstStyle/>
          <a:p>
            <a:pPr marL="0" indent="0">
              <a:buNone/>
            </a:pPr>
            <a:r>
              <a:rPr lang="en-US" sz="2200" b="1" dirty="0">
                <a:solidFill>
                  <a:schemeClr val="accent2"/>
                </a:solidFill>
              </a:rPr>
              <a:t>Purpose:</a:t>
            </a:r>
          </a:p>
          <a:p>
            <a:r>
              <a:rPr lang="en-US" sz="2200" dirty="0"/>
              <a:t>Provides movement to the robot by converting electrical energy into mechanical motion.</a:t>
            </a:r>
          </a:p>
          <a:p>
            <a:pPr marL="0" indent="0">
              <a:buNone/>
            </a:pPr>
            <a:r>
              <a:rPr lang="en-US" sz="2200" b="1" dirty="0">
                <a:solidFill>
                  <a:schemeClr val="accent2"/>
                </a:solidFill>
              </a:rPr>
              <a:t>Features:</a:t>
            </a:r>
          </a:p>
          <a:p>
            <a:r>
              <a:rPr lang="en-US" sz="2200" dirty="0"/>
              <a:t>Forward and reverse rotation </a:t>
            </a:r>
          </a:p>
          <a:p>
            <a:r>
              <a:rPr lang="en-US" sz="2200" dirty="0"/>
              <a:t>High torque for movement </a:t>
            </a:r>
          </a:p>
          <a:p>
            <a:r>
              <a:rPr lang="en-US" sz="2200" dirty="0"/>
              <a:t>Compatible with motor driver </a:t>
            </a:r>
          </a:p>
          <a:p>
            <a:r>
              <a:rPr lang="en-US" sz="2200" dirty="0"/>
              <a:t>Supports wheels and gear systems </a:t>
            </a:r>
          </a:p>
          <a:p>
            <a:r>
              <a:rPr lang="en-US" sz="2200" dirty="0"/>
              <a:t>Durable and efficient </a:t>
            </a:r>
          </a:p>
          <a:p>
            <a:r>
              <a:rPr lang="en-US" sz="2200" b="1" dirty="0"/>
              <a:t>Power Supply:</a:t>
            </a:r>
            <a:r>
              <a:rPr lang="en-US" sz="2200" dirty="0"/>
              <a:t> 6V–12V, 100mA–500mA per motor (≈ 1W–6W each)</a:t>
            </a:r>
          </a:p>
          <a:p>
            <a:endParaRPr lang="en-IN" dirty="0"/>
          </a:p>
        </p:txBody>
      </p:sp>
      <p:pic>
        <p:nvPicPr>
          <p:cNvPr id="5" name="Picture 4">
            <a:extLst>
              <a:ext uri="{FF2B5EF4-FFF2-40B4-BE49-F238E27FC236}">
                <a16:creationId xmlns:a16="http://schemas.microsoft.com/office/drawing/2014/main" id="{365DB58E-D767-81F5-F8FD-9D6A765B61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1065" y="1948578"/>
            <a:ext cx="4463845" cy="4463845"/>
          </a:xfrm>
          <a:prstGeom prst="rect">
            <a:avLst/>
          </a:prstGeom>
        </p:spPr>
      </p:pic>
    </p:spTree>
    <p:extLst>
      <p:ext uri="{BB962C8B-B14F-4D97-AF65-F5344CB8AC3E}">
        <p14:creationId xmlns:p14="http://schemas.microsoft.com/office/powerpoint/2010/main" val="16056713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chemeClr val="accent1">
                    <a:lumMod val="75000"/>
                  </a:schemeClr>
                </a:solidFill>
              </a:rPr>
              <a:t>Circuit Diagram</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8144" y="1825625"/>
            <a:ext cx="7735711" cy="4351338"/>
          </a:xfrm>
        </p:spPr>
      </p:pic>
    </p:spTree>
    <p:extLst>
      <p:ext uri="{BB962C8B-B14F-4D97-AF65-F5344CB8AC3E}">
        <p14:creationId xmlns:p14="http://schemas.microsoft.com/office/powerpoint/2010/main" val="13137551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A391F-930C-05F4-BFBF-A6F7CC3FA5F0}"/>
              </a:ext>
            </a:extLst>
          </p:cNvPr>
          <p:cNvSpPr>
            <a:spLocks noGrp="1"/>
          </p:cNvSpPr>
          <p:nvPr>
            <p:ph type="title"/>
          </p:nvPr>
        </p:nvSpPr>
        <p:spPr/>
        <p:txBody>
          <a:bodyPr>
            <a:normAutofit/>
          </a:bodyPr>
          <a:lstStyle/>
          <a:p>
            <a:r>
              <a:rPr lang="en-IN" sz="3600" b="1" dirty="0">
                <a:solidFill>
                  <a:schemeClr val="accent1">
                    <a:lumMod val="75000"/>
                  </a:schemeClr>
                </a:solidFill>
              </a:rPr>
              <a:t>Software Requirements:</a:t>
            </a:r>
          </a:p>
        </p:txBody>
      </p:sp>
      <p:sp>
        <p:nvSpPr>
          <p:cNvPr id="3" name="Content Placeholder 2">
            <a:extLst>
              <a:ext uri="{FF2B5EF4-FFF2-40B4-BE49-F238E27FC236}">
                <a16:creationId xmlns:a16="http://schemas.microsoft.com/office/drawing/2014/main" id="{810A99E6-DA88-3CA8-E4D5-372FBB383323}"/>
              </a:ext>
            </a:extLst>
          </p:cNvPr>
          <p:cNvSpPr>
            <a:spLocks noGrp="1"/>
          </p:cNvSpPr>
          <p:nvPr>
            <p:ph idx="1"/>
          </p:nvPr>
        </p:nvSpPr>
        <p:spPr/>
        <p:txBody>
          <a:bodyPr>
            <a:normAutofit/>
          </a:bodyPr>
          <a:lstStyle/>
          <a:p>
            <a:pPr marL="0" indent="0">
              <a:buNone/>
            </a:pPr>
            <a:r>
              <a:rPr lang="en-US" b="1" dirty="0"/>
              <a:t> </a:t>
            </a:r>
            <a:r>
              <a:rPr lang="en-US" sz="1900" b="1" dirty="0"/>
              <a:t>REQUIREMENTS FOR SOFTWARE INSTALLATION:</a:t>
            </a:r>
            <a:endParaRPr lang="en-IN" sz="1900" dirty="0"/>
          </a:p>
          <a:p>
            <a:pPr lvl="0"/>
            <a:r>
              <a:rPr lang="en-IN" sz="1900" dirty="0"/>
              <a:t>Toolchain: Compiler and build tools for ESP32.</a:t>
            </a:r>
          </a:p>
          <a:p>
            <a:pPr lvl="0"/>
            <a:r>
              <a:rPr lang="en-IN" sz="1900" dirty="0"/>
              <a:t>ESP-IDF: Espressif IoT Development Framework for programming ESP32.</a:t>
            </a:r>
          </a:p>
          <a:p>
            <a:pPr lvl="0"/>
            <a:r>
              <a:rPr lang="en-IN" sz="1900" dirty="0"/>
              <a:t>RASPBERRY PI 4 IDE (optional): For simpler ESP32 programming.</a:t>
            </a:r>
          </a:p>
          <a:p>
            <a:pPr lvl="0"/>
            <a:r>
              <a:rPr lang="en-IN" sz="1900" dirty="0"/>
              <a:t>Python 3.x: Required for ESP-IDF setup.</a:t>
            </a:r>
          </a:p>
          <a:p>
            <a:pPr lvl="0"/>
            <a:r>
              <a:rPr lang="en-IN" sz="1900" dirty="0"/>
              <a:t>Drivers: CP210x or CH340 USB-to-serial drivers for board communication.</a:t>
            </a:r>
          </a:p>
          <a:p>
            <a:pPr lvl="0"/>
            <a:endParaRPr lang="en-IN" sz="1900" dirty="0"/>
          </a:p>
          <a:p>
            <a:pPr marL="0" indent="0">
              <a:buNone/>
            </a:pPr>
            <a:r>
              <a:rPr lang="en-US" sz="1800" b="1" dirty="0"/>
              <a:t>SET UP RASPBERRY PI 4</a:t>
            </a:r>
            <a:r>
              <a:rPr lang="en-US" sz="2400" b="1" dirty="0"/>
              <a:t>  :</a:t>
            </a:r>
            <a:endParaRPr lang="en-IN" sz="2400" b="1" i="1" dirty="0"/>
          </a:p>
          <a:p>
            <a:pPr marL="0" indent="0">
              <a:buNone/>
            </a:pPr>
            <a:r>
              <a:rPr lang="en-IN" sz="2000" dirty="0"/>
              <a:t>Setting up the </a:t>
            </a:r>
            <a:r>
              <a:rPr lang="en-US" sz="2000" b="1" dirty="0"/>
              <a:t>RASPBERRY PI 4</a:t>
            </a:r>
            <a:r>
              <a:rPr lang="en-IN" sz="2000" dirty="0"/>
              <a:t> requires installing the necessary software, configuring the development environment, and verifying the connection. Follow these steps for a smooth setup:</a:t>
            </a:r>
          </a:p>
          <a:p>
            <a:endParaRPr lang="en-IN" dirty="0"/>
          </a:p>
        </p:txBody>
      </p:sp>
    </p:spTree>
    <p:extLst>
      <p:ext uri="{BB962C8B-B14F-4D97-AF65-F5344CB8AC3E}">
        <p14:creationId xmlns:p14="http://schemas.microsoft.com/office/powerpoint/2010/main" val="25923834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BC58A5-18F5-24B4-616A-E5D24D6F6E3A}"/>
              </a:ext>
            </a:extLst>
          </p:cNvPr>
          <p:cNvSpPr>
            <a:spLocks noGrp="1"/>
          </p:cNvSpPr>
          <p:nvPr>
            <p:ph idx="1"/>
          </p:nvPr>
        </p:nvSpPr>
        <p:spPr>
          <a:xfrm>
            <a:off x="520699" y="609600"/>
            <a:ext cx="10591801" cy="5926264"/>
          </a:xfrm>
        </p:spPr>
        <p:txBody>
          <a:bodyPr>
            <a:noAutofit/>
          </a:bodyPr>
          <a:lstStyle/>
          <a:p>
            <a:pPr indent="-1143000">
              <a:lnSpc>
                <a:spcPct val="120000"/>
              </a:lnSpc>
            </a:pPr>
            <a:r>
              <a:rPr lang="en-IN" sz="1600" b="1" dirty="0"/>
              <a:t>Gather Required Components :</a:t>
            </a:r>
          </a:p>
          <a:p>
            <a:pPr lvl="1" indent="-1143000">
              <a:lnSpc>
                <a:spcPct val="120000"/>
              </a:lnSpc>
            </a:pPr>
            <a:r>
              <a:rPr lang="en-IN" sz="1600" dirty="0"/>
              <a:t>Raspberry Pi 4 (4GB or 8GB RAM model)</a:t>
            </a:r>
          </a:p>
          <a:p>
            <a:pPr lvl="1" indent="-1143000">
              <a:lnSpc>
                <a:spcPct val="120000"/>
              </a:lnSpc>
            </a:pPr>
            <a:r>
              <a:rPr lang="en-IN" sz="1600" dirty="0"/>
              <a:t>MicroSD card (minimum 16GB, Class 10)</a:t>
            </a:r>
          </a:p>
          <a:p>
            <a:pPr lvl="1" indent="-1143000">
              <a:lnSpc>
                <a:spcPct val="120000"/>
              </a:lnSpc>
            </a:pPr>
            <a:r>
              <a:rPr lang="en-IN" sz="1600" dirty="0"/>
              <a:t>HDMI cable and display monitor</a:t>
            </a:r>
          </a:p>
          <a:p>
            <a:pPr lvl="1" indent="-1143000">
              <a:lnSpc>
                <a:spcPct val="120000"/>
              </a:lnSpc>
            </a:pPr>
            <a:r>
              <a:rPr lang="en-IN" sz="1600" dirty="0"/>
              <a:t>USB microphone and speaker (for voice input and output)</a:t>
            </a:r>
            <a:endParaRPr lang="en-IN" sz="1050" dirty="0"/>
          </a:p>
          <a:p>
            <a:pPr indent="-1143000">
              <a:lnSpc>
                <a:spcPct val="120000"/>
              </a:lnSpc>
            </a:pPr>
            <a:r>
              <a:rPr lang="en-IN" sz="1600" b="1" dirty="0"/>
              <a:t>Install Raspberry Pi OS : </a:t>
            </a:r>
            <a:r>
              <a:rPr lang="en-IN" sz="1200" dirty="0"/>
              <a:t>Download the Raspberry Pi Imager tool on your computer.</a:t>
            </a:r>
          </a:p>
          <a:p>
            <a:pPr lvl="1" indent="-1143000">
              <a:lnSpc>
                <a:spcPct val="120000"/>
              </a:lnSpc>
            </a:pPr>
            <a:r>
              <a:rPr lang="en-IN" sz="1200" dirty="0"/>
              <a:t>Insert the microSD card and flash Raspberry Pi OS using the Imager.</a:t>
            </a:r>
            <a:endParaRPr lang="en-IN" sz="1200" b="1" dirty="0"/>
          </a:p>
          <a:p>
            <a:pPr indent="-1143000">
              <a:lnSpc>
                <a:spcPct val="120000"/>
              </a:lnSpc>
            </a:pPr>
            <a:r>
              <a:rPr lang="en-IN" sz="1600" b="1" dirty="0"/>
              <a:t>Initial Boot and Configuration : </a:t>
            </a:r>
            <a:r>
              <a:rPr lang="en-IN" sz="1600" dirty="0"/>
              <a:t>Complete the setup wizard:</a:t>
            </a:r>
          </a:p>
          <a:p>
            <a:pPr lvl="2" indent="-1143000">
              <a:lnSpc>
                <a:spcPct val="120000"/>
              </a:lnSpc>
            </a:pPr>
            <a:r>
              <a:rPr lang="en-IN" sz="1600" dirty="0"/>
              <a:t>Select language, country, and time zone.</a:t>
            </a:r>
          </a:p>
          <a:p>
            <a:pPr lvl="2" indent="-1143000">
              <a:lnSpc>
                <a:spcPct val="120000"/>
              </a:lnSpc>
            </a:pPr>
            <a:r>
              <a:rPr lang="en-IN" sz="1600" dirty="0"/>
              <a:t>Connect to Wi-Fi.</a:t>
            </a:r>
          </a:p>
          <a:p>
            <a:pPr lvl="2" indent="-1143000">
              <a:lnSpc>
                <a:spcPct val="120000"/>
              </a:lnSpc>
            </a:pPr>
            <a:r>
              <a:rPr lang="en-IN" sz="1600" dirty="0"/>
              <a:t>Update the system when prompted</a:t>
            </a:r>
            <a:endParaRPr lang="en-IN" sz="1600" b="1" dirty="0"/>
          </a:p>
          <a:p>
            <a:pPr indent="-1143000">
              <a:lnSpc>
                <a:spcPct val="120000"/>
              </a:lnSpc>
            </a:pPr>
            <a:r>
              <a:rPr lang="en-IN" sz="1600" b="1" dirty="0"/>
              <a:t>Enable Interfaces : </a:t>
            </a:r>
            <a:r>
              <a:rPr lang="en-IN" sz="1600" dirty="0"/>
              <a:t>Enable the following:</a:t>
            </a:r>
          </a:p>
          <a:p>
            <a:pPr lvl="2" indent="-1143000">
              <a:lnSpc>
                <a:spcPct val="120000"/>
              </a:lnSpc>
            </a:pPr>
            <a:r>
              <a:rPr lang="en-IN" sz="1600" dirty="0"/>
              <a:t>SSH (for remote access)</a:t>
            </a:r>
          </a:p>
          <a:p>
            <a:pPr lvl="2" indent="-1143000">
              <a:lnSpc>
                <a:spcPct val="120000"/>
              </a:lnSpc>
            </a:pPr>
            <a:r>
              <a:rPr lang="en-IN" sz="1600" dirty="0"/>
              <a:t>I2C and SPI (for sensors)</a:t>
            </a:r>
          </a:p>
          <a:p>
            <a:pPr lvl="2" indent="-1143000">
              <a:lnSpc>
                <a:spcPct val="120000"/>
              </a:lnSpc>
            </a:pPr>
            <a:r>
              <a:rPr lang="en-IN" sz="1600" dirty="0"/>
              <a:t>GPIO (for motor control)</a:t>
            </a:r>
            <a:endParaRPr lang="en-IN" sz="1600" b="1" dirty="0"/>
          </a:p>
          <a:p>
            <a:pPr indent="-1143000">
              <a:lnSpc>
                <a:spcPct val="120000"/>
              </a:lnSpc>
            </a:pPr>
            <a:r>
              <a:rPr lang="en-IN" sz="1600" b="1" dirty="0"/>
              <a:t>Install Required Software Packages : </a:t>
            </a:r>
            <a:r>
              <a:rPr lang="en-IN" sz="1600" dirty="0"/>
              <a:t>Install Python libraries and tools needed for your project</a:t>
            </a:r>
            <a:endParaRPr lang="en-IN" sz="1600" b="1" dirty="0"/>
          </a:p>
          <a:p>
            <a:pPr marL="0" indent="0">
              <a:buNone/>
            </a:pPr>
            <a:endParaRPr lang="en-IN" sz="900" dirty="0"/>
          </a:p>
        </p:txBody>
      </p:sp>
    </p:spTree>
    <p:extLst>
      <p:ext uri="{BB962C8B-B14F-4D97-AF65-F5344CB8AC3E}">
        <p14:creationId xmlns:p14="http://schemas.microsoft.com/office/powerpoint/2010/main" val="39133018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chemeClr val="accent1">
                    <a:lumMod val="75000"/>
                  </a:schemeClr>
                </a:solidFill>
              </a:rPr>
              <a:t>FLOW CHART:</a:t>
            </a:r>
          </a:p>
        </p:txBody>
      </p:sp>
      <p:pic>
        <p:nvPicPr>
          <p:cNvPr id="7" name="Content Placeholder 6">
            <a:extLst>
              <a:ext uri="{FF2B5EF4-FFF2-40B4-BE49-F238E27FC236}">
                <a16:creationId xmlns:a16="http://schemas.microsoft.com/office/drawing/2014/main" id="{5B4AD3D4-11D3-662A-2594-B8E64CF242D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52" t="7268" r="-52" b="-7268"/>
          <a:stretch>
            <a:fillRect/>
          </a:stretch>
        </p:blipFill>
        <p:spPr>
          <a:xfrm>
            <a:off x="2084441" y="1358360"/>
            <a:ext cx="7236540" cy="5248503"/>
          </a:xfrm>
          <a:prstGeom prst="rect">
            <a:avLst/>
          </a:prstGeom>
        </p:spPr>
      </p:pic>
    </p:spTree>
    <p:extLst>
      <p:ext uri="{BB962C8B-B14F-4D97-AF65-F5344CB8AC3E}">
        <p14:creationId xmlns:p14="http://schemas.microsoft.com/office/powerpoint/2010/main" val="130864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chemeClr val="accent1">
                    <a:lumMod val="75000"/>
                  </a:schemeClr>
                </a:solidFill>
              </a:rPr>
              <a:t>RESULT:</a:t>
            </a:r>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12582" r="18205"/>
          <a:stretch/>
        </p:blipFill>
        <p:spPr>
          <a:xfrm>
            <a:off x="3314700" y="1206193"/>
            <a:ext cx="5359400" cy="4351338"/>
          </a:xfrm>
          <a:ln>
            <a:solidFill>
              <a:schemeClr val="tx1"/>
            </a:solidFill>
          </a:ln>
        </p:spPr>
      </p:pic>
      <p:sp>
        <p:nvSpPr>
          <p:cNvPr id="5" name="TextBox 4"/>
          <p:cNvSpPr txBox="1"/>
          <p:nvPr/>
        </p:nvSpPr>
        <p:spPr>
          <a:xfrm>
            <a:off x="2501900" y="5873234"/>
            <a:ext cx="7391400" cy="369332"/>
          </a:xfrm>
          <a:prstGeom prst="rect">
            <a:avLst/>
          </a:prstGeom>
          <a:noFill/>
        </p:spPr>
        <p:txBody>
          <a:bodyPr wrap="square" rtlCol="0">
            <a:spAutoFit/>
          </a:bodyPr>
          <a:lstStyle/>
          <a:p>
            <a:pPr algn="ctr"/>
            <a:r>
              <a:rPr lang="en-US" dirty="0"/>
              <a:t>Smart Autonomous Robot using </a:t>
            </a:r>
            <a:r>
              <a:rPr lang="en-US" dirty="0" err="1"/>
              <a:t>Chatgpt</a:t>
            </a:r>
            <a:r>
              <a:rPr lang="en-US" dirty="0"/>
              <a:t> : POWER </a:t>
            </a:r>
            <a:r>
              <a:rPr lang="en-US" b="1" dirty="0"/>
              <a:t>ON</a:t>
            </a:r>
          </a:p>
        </p:txBody>
      </p:sp>
    </p:spTree>
    <p:extLst>
      <p:ext uri="{BB962C8B-B14F-4D97-AF65-F5344CB8AC3E}">
        <p14:creationId xmlns:p14="http://schemas.microsoft.com/office/powerpoint/2010/main" val="1101969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1850B-D3E0-B9D9-DFB3-CD1E4019344F}"/>
              </a:ext>
            </a:extLst>
          </p:cNvPr>
          <p:cNvSpPr>
            <a:spLocks noGrp="1"/>
          </p:cNvSpPr>
          <p:nvPr>
            <p:ph type="title"/>
          </p:nvPr>
        </p:nvSpPr>
        <p:spPr/>
        <p:txBody>
          <a:bodyPr/>
          <a:lstStyle/>
          <a:p>
            <a:r>
              <a:rPr lang="en-IN" dirty="0">
                <a:solidFill>
                  <a:schemeClr val="accent1">
                    <a:lumMod val="75000"/>
                  </a:schemeClr>
                </a:solidFill>
              </a:rPr>
              <a:t>ADVANTAGES:</a:t>
            </a:r>
          </a:p>
        </p:txBody>
      </p:sp>
      <p:sp>
        <p:nvSpPr>
          <p:cNvPr id="3" name="Content Placeholder 2">
            <a:extLst>
              <a:ext uri="{FF2B5EF4-FFF2-40B4-BE49-F238E27FC236}">
                <a16:creationId xmlns:a16="http://schemas.microsoft.com/office/drawing/2014/main" id="{FF1500E0-2830-76A5-FC27-1A5BA9634F5F}"/>
              </a:ext>
            </a:extLst>
          </p:cNvPr>
          <p:cNvSpPr>
            <a:spLocks noGrp="1"/>
          </p:cNvSpPr>
          <p:nvPr>
            <p:ph idx="1"/>
          </p:nvPr>
        </p:nvSpPr>
        <p:spPr/>
        <p:txBody>
          <a:bodyPr>
            <a:normAutofit/>
          </a:bodyPr>
          <a:lstStyle/>
          <a:p>
            <a:pPr>
              <a:lnSpc>
                <a:spcPct val="150000"/>
              </a:lnSpc>
            </a:pPr>
            <a:r>
              <a:rPr lang="en-US" sz="2000" dirty="0"/>
              <a:t>Voice-Controlled Robots – Used to recognize voice commands and control robot movements. </a:t>
            </a:r>
          </a:p>
          <a:p>
            <a:pPr>
              <a:lnSpc>
                <a:spcPct val="150000"/>
              </a:lnSpc>
            </a:pPr>
            <a:r>
              <a:rPr lang="en-US" sz="2000" dirty="0"/>
              <a:t> Home Automation Systems – Automates home appliances such as lights, fans, and doors. </a:t>
            </a:r>
          </a:p>
          <a:p>
            <a:pPr>
              <a:lnSpc>
                <a:spcPct val="150000"/>
              </a:lnSpc>
            </a:pPr>
            <a:r>
              <a:rPr lang="en-US" sz="2000" dirty="0"/>
              <a:t> IoT (Internet of Things) Projects – Acts as a central controller for connected smart devices. </a:t>
            </a:r>
          </a:p>
          <a:p>
            <a:pPr>
              <a:lnSpc>
                <a:spcPct val="150000"/>
              </a:lnSpc>
            </a:pPr>
            <a:r>
              <a:rPr lang="en-US" sz="2000" dirty="0"/>
              <a:t> AI and Machine Learning Applications – Performs image recognition, speech recognition, and data analysis. </a:t>
            </a:r>
          </a:p>
          <a:p>
            <a:pPr>
              <a:lnSpc>
                <a:spcPct val="150000"/>
              </a:lnSpc>
            </a:pPr>
            <a:r>
              <a:rPr lang="en-US" sz="2000" dirty="0"/>
              <a:t> Educational Purposes – Helps students learn programming, hardware interfacing, and electronics.</a:t>
            </a:r>
          </a:p>
          <a:p>
            <a:pPr>
              <a:lnSpc>
                <a:spcPct val="150000"/>
              </a:lnSpc>
            </a:pPr>
            <a:r>
              <a:rPr lang="en-US" sz="2000" dirty="0"/>
              <a:t>  Media Center – Converts any monitor or TV into a smart media system using software like Kodi. </a:t>
            </a:r>
            <a:endParaRPr lang="en-IN" sz="2000" dirty="0"/>
          </a:p>
        </p:txBody>
      </p:sp>
    </p:spTree>
    <p:extLst>
      <p:ext uri="{BB962C8B-B14F-4D97-AF65-F5344CB8AC3E}">
        <p14:creationId xmlns:p14="http://schemas.microsoft.com/office/powerpoint/2010/main" val="8914555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1B8B5-D4DC-9EE2-35EC-D69FD646ABF6}"/>
              </a:ext>
            </a:extLst>
          </p:cNvPr>
          <p:cNvSpPr>
            <a:spLocks noGrp="1"/>
          </p:cNvSpPr>
          <p:nvPr>
            <p:ph type="title"/>
          </p:nvPr>
        </p:nvSpPr>
        <p:spPr/>
        <p:txBody>
          <a:bodyPr/>
          <a:lstStyle/>
          <a:p>
            <a:r>
              <a:rPr lang="en-IN" dirty="0">
                <a:solidFill>
                  <a:schemeClr val="accent1">
                    <a:lumMod val="75000"/>
                  </a:schemeClr>
                </a:solidFill>
              </a:rPr>
              <a:t>Limitations:</a:t>
            </a:r>
          </a:p>
        </p:txBody>
      </p:sp>
      <p:sp>
        <p:nvSpPr>
          <p:cNvPr id="3" name="Content Placeholder 2">
            <a:extLst>
              <a:ext uri="{FF2B5EF4-FFF2-40B4-BE49-F238E27FC236}">
                <a16:creationId xmlns:a16="http://schemas.microsoft.com/office/drawing/2014/main" id="{E689310C-C563-62C4-1B17-B4F761C678D5}"/>
              </a:ext>
            </a:extLst>
          </p:cNvPr>
          <p:cNvSpPr>
            <a:spLocks noGrp="1"/>
          </p:cNvSpPr>
          <p:nvPr>
            <p:ph idx="1"/>
          </p:nvPr>
        </p:nvSpPr>
        <p:spPr/>
        <p:txBody>
          <a:bodyPr>
            <a:normAutofit fontScale="92500" lnSpcReduction="20000"/>
          </a:bodyPr>
          <a:lstStyle/>
          <a:p>
            <a:pPr>
              <a:lnSpc>
                <a:spcPct val="160000"/>
              </a:lnSpc>
            </a:pPr>
            <a:r>
              <a:rPr lang="en-US" sz="2000" dirty="0"/>
              <a:t>Limited Processing Power: Not as powerful as a full desktop computer for heavy computational tasks. </a:t>
            </a:r>
          </a:p>
          <a:p>
            <a:pPr>
              <a:lnSpc>
                <a:spcPct val="160000"/>
              </a:lnSpc>
            </a:pPr>
            <a:r>
              <a:rPr lang="en-US" sz="2000" dirty="0"/>
              <a:t>No Built-in Storage: Requires a microSD card for storage, which can be slower and less reliable than SSDs. </a:t>
            </a:r>
          </a:p>
          <a:p>
            <a:pPr>
              <a:lnSpc>
                <a:spcPct val="160000"/>
              </a:lnSpc>
            </a:pPr>
            <a:r>
              <a:rPr lang="en-US" sz="2000" dirty="0"/>
              <a:t> Limited RAM for High-End Tasks: Even with 8GB RAM, it may struggle with large-scale AI or machine learning applications.</a:t>
            </a:r>
          </a:p>
          <a:p>
            <a:pPr>
              <a:lnSpc>
                <a:spcPct val="160000"/>
              </a:lnSpc>
            </a:pPr>
            <a:r>
              <a:rPr lang="en-US" sz="2000" dirty="0"/>
              <a:t> Dependent on External Peripherals: Needs monitor, keyboard, mouse, and power supply for setup and use. </a:t>
            </a:r>
          </a:p>
          <a:p>
            <a:pPr>
              <a:lnSpc>
                <a:spcPct val="160000"/>
              </a:lnSpc>
            </a:pPr>
            <a:r>
              <a:rPr lang="en-US" sz="2000" dirty="0"/>
              <a:t>Not Suitable for Real-Time Applications: Due to its operating system, it cannot guarantee precise timing control</a:t>
            </a:r>
            <a:endParaRPr lang="en-IN" sz="2000" dirty="0"/>
          </a:p>
        </p:txBody>
      </p:sp>
    </p:spTree>
    <p:extLst>
      <p:ext uri="{BB962C8B-B14F-4D97-AF65-F5344CB8AC3E}">
        <p14:creationId xmlns:p14="http://schemas.microsoft.com/office/powerpoint/2010/main" val="1611379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1219C-9655-A605-7518-A0FA6D785B45}"/>
              </a:ext>
            </a:extLst>
          </p:cNvPr>
          <p:cNvSpPr>
            <a:spLocks noGrp="1"/>
          </p:cNvSpPr>
          <p:nvPr>
            <p:ph type="title"/>
          </p:nvPr>
        </p:nvSpPr>
        <p:spPr/>
        <p:txBody>
          <a:bodyPr/>
          <a:lstStyle/>
          <a:p>
            <a:r>
              <a:rPr lang="en-IN" dirty="0">
                <a:solidFill>
                  <a:schemeClr val="accent1">
                    <a:lumMod val="75000"/>
                  </a:schemeClr>
                </a:solidFill>
              </a:rPr>
              <a:t>APPLICATIONS:</a:t>
            </a:r>
          </a:p>
        </p:txBody>
      </p:sp>
      <p:sp>
        <p:nvSpPr>
          <p:cNvPr id="3" name="Content Placeholder 2">
            <a:extLst>
              <a:ext uri="{FF2B5EF4-FFF2-40B4-BE49-F238E27FC236}">
                <a16:creationId xmlns:a16="http://schemas.microsoft.com/office/drawing/2014/main" id="{819B7405-9487-B83C-943E-29E9125D1605}"/>
              </a:ext>
            </a:extLst>
          </p:cNvPr>
          <p:cNvSpPr>
            <a:spLocks noGrp="1"/>
          </p:cNvSpPr>
          <p:nvPr>
            <p:ph idx="1"/>
          </p:nvPr>
        </p:nvSpPr>
        <p:spPr/>
        <p:txBody>
          <a:bodyPr>
            <a:normAutofit/>
          </a:bodyPr>
          <a:lstStyle/>
          <a:p>
            <a:pPr>
              <a:lnSpc>
                <a:spcPct val="150000"/>
              </a:lnSpc>
            </a:pPr>
            <a:r>
              <a:rPr lang="en-US" sz="2000" dirty="0"/>
              <a:t>Voice-Controlled Robots – Used to recognize and respond to spoken commands for robot control. </a:t>
            </a:r>
          </a:p>
          <a:p>
            <a:pPr>
              <a:lnSpc>
                <a:spcPct val="150000"/>
              </a:lnSpc>
            </a:pPr>
            <a:r>
              <a:rPr lang="en-US" sz="2000" dirty="0"/>
              <a:t> Home Automation Systems – Controls home appliances such as lights, fans, and doors remotely or via voice. </a:t>
            </a:r>
          </a:p>
          <a:p>
            <a:pPr>
              <a:lnSpc>
                <a:spcPct val="150000"/>
              </a:lnSpc>
            </a:pPr>
            <a:r>
              <a:rPr lang="en-US" sz="2000" dirty="0"/>
              <a:t> IoT Projects – Acts as the central controller in Internet of Things applications.</a:t>
            </a:r>
          </a:p>
          <a:p>
            <a:pPr>
              <a:lnSpc>
                <a:spcPct val="150000"/>
              </a:lnSpc>
            </a:pPr>
            <a:r>
              <a:rPr lang="en-US" sz="2000" dirty="0"/>
              <a:t>  AI and Machine Learning – Runs models for image recognition, speech processing, and data prediction. </a:t>
            </a:r>
          </a:p>
          <a:p>
            <a:pPr>
              <a:lnSpc>
                <a:spcPct val="150000"/>
              </a:lnSpc>
            </a:pPr>
            <a:r>
              <a:rPr lang="en-US" sz="2000" dirty="0"/>
              <a:t> Educational Purposes – Used in schools and colleges to teach programming and embedded systems. </a:t>
            </a:r>
            <a:endParaRPr lang="en-IN" sz="2000" dirty="0"/>
          </a:p>
        </p:txBody>
      </p:sp>
    </p:spTree>
    <p:extLst>
      <p:ext uri="{BB962C8B-B14F-4D97-AF65-F5344CB8AC3E}">
        <p14:creationId xmlns:p14="http://schemas.microsoft.com/office/powerpoint/2010/main" val="3928991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35797-B021-1E2C-0B10-0C88A80FBE61}"/>
              </a:ext>
            </a:extLst>
          </p:cNvPr>
          <p:cNvSpPr>
            <a:spLocks noGrp="1"/>
          </p:cNvSpPr>
          <p:nvPr>
            <p:ph type="title"/>
          </p:nvPr>
        </p:nvSpPr>
        <p:spPr/>
        <p:txBody>
          <a:bodyPr/>
          <a:lstStyle/>
          <a:p>
            <a:r>
              <a:rPr lang="en-IN" dirty="0">
                <a:solidFill>
                  <a:schemeClr val="accent1">
                    <a:lumMod val="75000"/>
                  </a:schemeClr>
                </a:solidFill>
              </a:rPr>
              <a:t>Conclusion:</a:t>
            </a:r>
          </a:p>
        </p:txBody>
      </p:sp>
      <p:sp>
        <p:nvSpPr>
          <p:cNvPr id="3" name="Content Placeholder 2">
            <a:extLst>
              <a:ext uri="{FF2B5EF4-FFF2-40B4-BE49-F238E27FC236}">
                <a16:creationId xmlns:a16="http://schemas.microsoft.com/office/drawing/2014/main" id="{8262D100-A4AA-DBDA-03BA-87A08611F3A3}"/>
              </a:ext>
            </a:extLst>
          </p:cNvPr>
          <p:cNvSpPr>
            <a:spLocks noGrp="1"/>
          </p:cNvSpPr>
          <p:nvPr>
            <p:ph idx="1"/>
          </p:nvPr>
        </p:nvSpPr>
        <p:spPr>
          <a:xfrm>
            <a:off x="838200" y="1690688"/>
            <a:ext cx="10515600" cy="4351338"/>
          </a:xfrm>
        </p:spPr>
        <p:txBody>
          <a:bodyPr>
            <a:normAutofit fontScale="92500" lnSpcReduction="20000"/>
          </a:bodyPr>
          <a:lstStyle/>
          <a:p>
            <a:pPr marL="0" indent="0">
              <a:lnSpc>
                <a:spcPct val="150000"/>
              </a:lnSpc>
              <a:buNone/>
            </a:pPr>
            <a:r>
              <a:rPr lang="en-US" sz="2000" dirty="0"/>
              <a:t>      The Smart Autonomous  Robot using Raspberry Pi 4 demonstrates the integration of speech recognition technology with robotic control systems. This project shows how human voice commands can be used to control the movement and actions of a robot effectively. By using components such as the Raspberry Pi 4, USB microphone, motor driver, and ultrasonic sensor, the system achieves intelligent and interactive operation. </a:t>
            </a:r>
          </a:p>
          <a:p>
            <a:pPr marL="0" indent="0">
              <a:lnSpc>
                <a:spcPct val="150000"/>
              </a:lnSpc>
              <a:buNone/>
            </a:pPr>
            <a:r>
              <a:rPr lang="en-US" sz="2000" dirty="0"/>
              <a:t>        The project highlights the potential of artificial intelligence, IoT, and embedded systems in </a:t>
            </a:r>
            <a:r>
              <a:rPr lang="en-US" sz="2000" dirty="0" err="1"/>
              <a:t>realworld</a:t>
            </a:r>
            <a:r>
              <a:rPr lang="en-US" sz="2000" dirty="0"/>
              <a:t> automation. It provides a foundation for developing more advanced applications like home automation, assistive robots, and industrial automation systems.</a:t>
            </a:r>
          </a:p>
          <a:p>
            <a:pPr marL="0" indent="0">
              <a:lnSpc>
                <a:spcPct val="150000"/>
              </a:lnSpc>
              <a:buNone/>
            </a:pPr>
            <a:r>
              <a:rPr lang="en-US" sz="2000" dirty="0"/>
              <a:t>    Overall, this project helps in understanding how hardware and software can work together to create a smart, voice-responsive robotic system that bridges the gap between humans and machines. </a:t>
            </a:r>
            <a:endParaRPr lang="en-IN" sz="2000" dirty="0"/>
          </a:p>
        </p:txBody>
      </p:sp>
    </p:spTree>
    <p:extLst>
      <p:ext uri="{BB962C8B-B14F-4D97-AF65-F5344CB8AC3E}">
        <p14:creationId xmlns:p14="http://schemas.microsoft.com/office/powerpoint/2010/main" val="28861459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EE2B5-841A-D82B-212A-1C1DAE4B4EFB}"/>
              </a:ext>
            </a:extLst>
          </p:cNvPr>
          <p:cNvSpPr>
            <a:spLocks noGrp="1"/>
          </p:cNvSpPr>
          <p:nvPr>
            <p:ph type="title"/>
          </p:nvPr>
        </p:nvSpPr>
        <p:spPr/>
        <p:txBody>
          <a:bodyPr/>
          <a:lstStyle/>
          <a:p>
            <a:r>
              <a:rPr lang="en-IN" dirty="0">
                <a:solidFill>
                  <a:schemeClr val="accent1">
                    <a:lumMod val="75000"/>
                  </a:schemeClr>
                </a:solidFill>
              </a:rPr>
              <a:t>Future Scope: </a:t>
            </a:r>
          </a:p>
        </p:txBody>
      </p:sp>
      <p:sp>
        <p:nvSpPr>
          <p:cNvPr id="3" name="Content Placeholder 2">
            <a:extLst>
              <a:ext uri="{FF2B5EF4-FFF2-40B4-BE49-F238E27FC236}">
                <a16:creationId xmlns:a16="http://schemas.microsoft.com/office/drawing/2014/main" id="{71C8EB54-2CD6-C3E3-0422-A3C11D4C0093}"/>
              </a:ext>
            </a:extLst>
          </p:cNvPr>
          <p:cNvSpPr>
            <a:spLocks noGrp="1"/>
          </p:cNvSpPr>
          <p:nvPr>
            <p:ph idx="1"/>
          </p:nvPr>
        </p:nvSpPr>
        <p:spPr>
          <a:xfrm>
            <a:off x="838200" y="1864954"/>
            <a:ext cx="10515600" cy="4299872"/>
          </a:xfrm>
        </p:spPr>
        <p:txBody>
          <a:bodyPr>
            <a:normAutofit/>
          </a:bodyPr>
          <a:lstStyle/>
          <a:p>
            <a:pPr marL="0" indent="0">
              <a:lnSpc>
                <a:spcPct val="150000"/>
              </a:lnSpc>
              <a:buNone/>
            </a:pPr>
            <a:r>
              <a:rPr lang="en-US" sz="2000" dirty="0"/>
              <a:t>the project can be further improved by integrating artificial intelligence (ai) to make the robot understand and respond to complex commands. adding camera modules and computer vision can enable object detection, face recognition, and autonomous navigation .The robot can be connected to the internet of things (</a:t>
            </a:r>
            <a:r>
              <a:rPr lang="en-US" sz="2000" dirty="0" err="1"/>
              <a:t>iot</a:t>
            </a:r>
            <a:r>
              <a:rPr lang="en-US" sz="2000" dirty="0"/>
              <a:t>) network for remote monitoring and control through mobile apps or web interfaces</a:t>
            </a:r>
          </a:p>
        </p:txBody>
      </p:sp>
    </p:spTree>
    <p:extLst>
      <p:ext uri="{BB962C8B-B14F-4D97-AF65-F5344CB8AC3E}">
        <p14:creationId xmlns:p14="http://schemas.microsoft.com/office/powerpoint/2010/main" val="7539282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9C8E6-794A-2275-C7CA-AEE8996326BC}"/>
              </a:ext>
            </a:extLst>
          </p:cNvPr>
          <p:cNvSpPr>
            <a:spLocks noGrp="1"/>
          </p:cNvSpPr>
          <p:nvPr>
            <p:ph type="title"/>
          </p:nvPr>
        </p:nvSpPr>
        <p:spPr/>
        <p:txBody>
          <a:bodyPr/>
          <a:lstStyle/>
          <a:p>
            <a:r>
              <a:rPr lang="en-IN" dirty="0">
                <a:solidFill>
                  <a:schemeClr val="accent1">
                    <a:lumMod val="75000"/>
                  </a:schemeClr>
                </a:solidFill>
              </a:rPr>
              <a:t>REFERENCES:</a:t>
            </a:r>
            <a:endParaRPr lang="en-IN" dirty="0"/>
          </a:p>
        </p:txBody>
      </p:sp>
      <p:sp>
        <p:nvSpPr>
          <p:cNvPr id="3" name="Content Placeholder 2">
            <a:extLst>
              <a:ext uri="{FF2B5EF4-FFF2-40B4-BE49-F238E27FC236}">
                <a16:creationId xmlns:a16="http://schemas.microsoft.com/office/drawing/2014/main" id="{CFC7981C-85AE-6BA2-BED8-E943AA982539}"/>
              </a:ext>
            </a:extLst>
          </p:cNvPr>
          <p:cNvSpPr>
            <a:spLocks noGrp="1"/>
          </p:cNvSpPr>
          <p:nvPr>
            <p:ph idx="1"/>
          </p:nvPr>
        </p:nvSpPr>
        <p:spPr>
          <a:xfrm>
            <a:off x="838200" y="1805961"/>
            <a:ext cx="10515600" cy="4351338"/>
          </a:xfrm>
        </p:spPr>
        <p:txBody>
          <a:bodyPr>
            <a:normAutofit/>
          </a:bodyPr>
          <a:lstStyle/>
          <a:p>
            <a:pPr marL="514350" indent="-514350">
              <a:buFont typeface="+mj-lt"/>
              <a:buAutoNum type="arabicPeriod"/>
            </a:pPr>
            <a:r>
              <a:rPr lang="en-IN" sz="1900" dirty="0"/>
              <a:t>Sikorski et al. (2024). "Deployment of NLP and LLM Techniques to Control Mobile Robots at the Edge." arXiv:2405.17670.</a:t>
            </a:r>
          </a:p>
          <a:p>
            <a:pPr marL="514350" indent="-514350">
              <a:buFont typeface="+mj-lt"/>
              <a:buAutoNum type="arabicPeriod"/>
            </a:pPr>
            <a:r>
              <a:rPr lang="en-IN" sz="1900" dirty="0"/>
              <a:t>Kanade &amp; Alva (2020). "Review of Voice Controlled Robotic Arm-Raspberry Pi." European Journal of Electrical Engineering and Computer Science, Vol. 5, Das et al. (2018). "An IoT based Interactive Speech Recognizable Robot with Distance control using Raspberry Pi." IEEE Micro Com Conference.</a:t>
            </a:r>
          </a:p>
          <a:p>
            <a:pPr marL="514350" indent="-514350">
              <a:buFont typeface="+mj-lt"/>
              <a:buAutoNum type="arabicPeriod"/>
            </a:pPr>
            <a:r>
              <a:rPr lang="en-IN" sz="1900" dirty="0"/>
              <a:t>Bäckström &amp; Morales-Villarreal (2023). "A survey on integration of large language models with intelligent robots." Intelligent Service Robotics, Vol. 17.</a:t>
            </a:r>
          </a:p>
          <a:p>
            <a:pPr marL="514350" indent="-514350">
              <a:buFont typeface="+mj-lt"/>
              <a:buAutoNum type="arabicPeriod"/>
            </a:pPr>
            <a:r>
              <a:rPr lang="en-IN" sz="1900" dirty="0" err="1"/>
              <a:t>Driess</a:t>
            </a:r>
            <a:r>
              <a:rPr lang="en-IN" sz="1900" dirty="0"/>
              <a:t> et al. (2024). "Integrating Large Language Models into Robotic Autonomy: Motion, Voice, and Training Pipelines." Remote Sensing in Robotics (MDPI), Vol. 6.</a:t>
            </a:r>
          </a:p>
          <a:p>
            <a:pPr marL="514350" indent="-514350">
              <a:buFont typeface="+mj-lt"/>
              <a:buAutoNum type="arabicPeriod"/>
            </a:pPr>
            <a:r>
              <a:rPr lang="en-IN" sz="1900" dirty="0"/>
              <a:t>Shrestha et al. (2024). "LLM-driven agent for speech-enabled control of industrial robots." Scientific Reports.</a:t>
            </a:r>
          </a:p>
          <a:p>
            <a:pPr marL="514350" indent="-514350">
              <a:buFont typeface="+mj-lt"/>
              <a:buAutoNum type="arabicPeriod"/>
            </a:pPr>
            <a:r>
              <a:rPr lang="en-IN" sz="1900" dirty="0"/>
              <a:t>Zeng et al. (2023). "Large Language Models for Robotics: A Survey." IEEE/CAA Journal of </a:t>
            </a:r>
            <a:r>
              <a:rPr lang="en-IN" sz="1900" dirty="0" err="1"/>
              <a:t>Automatica</a:t>
            </a:r>
            <a:r>
              <a:rPr lang="en-IN" sz="1900" dirty="0"/>
              <a:t> Sinica, Vol. 10</a:t>
            </a:r>
          </a:p>
        </p:txBody>
      </p:sp>
    </p:spTree>
    <p:extLst>
      <p:ext uri="{BB962C8B-B14F-4D97-AF65-F5344CB8AC3E}">
        <p14:creationId xmlns:p14="http://schemas.microsoft.com/office/powerpoint/2010/main" val="31702055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9D60C5-9C23-1472-F296-FB05342AB469}"/>
              </a:ext>
            </a:extLst>
          </p:cNvPr>
          <p:cNvSpPr txBox="1"/>
          <p:nvPr/>
        </p:nvSpPr>
        <p:spPr>
          <a:xfrm>
            <a:off x="3834581" y="2762864"/>
            <a:ext cx="4706417" cy="1107996"/>
          </a:xfrm>
          <a:prstGeom prst="rect">
            <a:avLst/>
          </a:prstGeom>
          <a:noFill/>
        </p:spPr>
        <p:txBody>
          <a:bodyPr wrap="none" rtlCol="0">
            <a:spAutoFit/>
          </a:bodyPr>
          <a:lstStyle/>
          <a:p>
            <a:r>
              <a:rPr lang="en-IN" sz="6600" dirty="0">
                <a:solidFill>
                  <a:schemeClr val="accent2">
                    <a:lumMod val="50000"/>
                  </a:schemeClr>
                </a:solidFill>
              </a:rPr>
              <a:t>Thank you..!!</a:t>
            </a:r>
          </a:p>
        </p:txBody>
      </p:sp>
    </p:spTree>
    <p:extLst>
      <p:ext uri="{BB962C8B-B14F-4D97-AF65-F5344CB8AC3E}">
        <p14:creationId xmlns:p14="http://schemas.microsoft.com/office/powerpoint/2010/main" val="30822951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216</TotalTime>
  <Words>1690</Words>
  <Application>Microsoft Office PowerPoint</Application>
  <PresentationFormat>Widescreen</PresentationFormat>
  <Paragraphs>194</Paragraphs>
  <Slides>24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Avenir Next LT Pro</vt:lpstr>
      <vt:lpstr>Calibri</vt:lpstr>
      <vt:lpstr>Calibri Light</vt:lpstr>
      <vt:lpstr>Times New Roman</vt:lpstr>
      <vt:lpstr>Office Theme</vt:lpstr>
      <vt:lpstr>PowerPoint Presentation</vt:lpstr>
      <vt:lpstr>AGENDA:</vt:lpstr>
      <vt:lpstr>Introduction:</vt:lpstr>
      <vt:lpstr>BLOCK DIAGRAM:</vt:lpstr>
      <vt:lpstr>RASPBERRY PI 4</vt:lpstr>
      <vt:lpstr>XPT2046: </vt:lpstr>
      <vt:lpstr>Ultrasonic sensors :</vt:lpstr>
      <vt:lpstr>Camera:</vt:lpstr>
      <vt:lpstr>Speaker: </vt:lpstr>
      <vt:lpstr>USB Mic:</vt:lpstr>
      <vt:lpstr>Motor Drivers :</vt:lpstr>
      <vt:lpstr>DC MOTOR:</vt:lpstr>
      <vt:lpstr>Circuit Diagram</vt:lpstr>
      <vt:lpstr>Software Requirements:</vt:lpstr>
      <vt:lpstr>PowerPoint Presentation</vt:lpstr>
      <vt:lpstr>FLOW CHART:</vt:lpstr>
      <vt:lpstr>RESULT:</vt:lpstr>
      <vt:lpstr>ADVANTAGES:</vt:lpstr>
      <vt:lpstr>Limitations:</vt:lpstr>
      <vt:lpstr>APPLICATIONS:</vt:lpstr>
      <vt:lpstr>Conclusion:</vt:lpstr>
      <vt:lpstr>Future Scope: </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meghana makthala</dc:creator>
  <cp:lastModifiedBy>meghana makthala</cp:lastModifiedBy>
  <cp:revision>7</cp:revision>
  <dcterms:created xsi:type="dcterms:W3CDTF">2025-11-14T17:09:12Z</dcterms:created>
  <dcterms:modified xsi:type="dcterms:W3CDTF">2026-03-26T04:56:32Z</dcterms:modified>
</cp:coreProperties>
</file>